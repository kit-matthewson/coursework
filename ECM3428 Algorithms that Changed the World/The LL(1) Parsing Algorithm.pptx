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64" r:id="rId5"/>
    <p:sldId id="258" r:id="rId6"/>
    <p:sldId id="259" r:id="rId7"/>
    <p:sldId id="260" r:id="rId8"/>
    <p:sldId id="262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3028"/>
    <a:srgbClr val="AAB01E"/>
    <a:srgbClr val="E6D4A3"/>
    <a:srgbClr val="F7B125"/>
    <a:srgbClr val="282828"/>
    <a:srgbClr val="C77089"/>
    <a:srgbClr val="7F7061"/>
    <a:srgbClr val="9C988A"/>
    <a:srgbClr val="719586"/>
    <a:srgbClr val="9787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D4026E-E2EC-477B-960E-945FF632FE1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624997-2452-4426-9FD2-B414C63F7F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2212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624997-2452-4426-9FD2-B414C63F7F1B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46614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01B0-542D-77A6-E1DE-4BF036958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4A10A-6BBA-FE62-DDE4-8E4BA06BB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FA26CD-8811-1A38-A148-603E694259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1AF77-47F7-EB7A-37E4-0159473BE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624997-2452-4426-9FD2-B414C63F7F1B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7727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A1BBB-0485-A774-9C1F-1E8206995E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98F85A-0139-4201-E5C2-16424EE53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DF016-3986-267D-654E-82B6CA519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7C36B-1612-7BAF-E7A3-EC9DE0DF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A57B9-AD04-A7C0-CAB9-1193F1A44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2549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69693-7F8D-1DBD-EEC0-69BA738E9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C00E2-F0C8-C537-9787-D63BEF622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813F36-4171-F013-7410-CF98AA15D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D22E5D-6F27-D9B1-E6DB-24D248438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29295-A731-5EA4-DEDA-EC4987E88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84458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DAFC-A32F-6E49-E17C-7EAD3E142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E506BC-FB51-F112-32FB-CC91FB042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A3F4B-2690-6366-9907-EC5615D2B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C8D54F-3ECF-95E6-9D8C-1DC23128F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668B52-BA16-84DC-4A3C-30258902C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763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74F40-B51F-F590-8A16-4ACAF80A8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90BDE-C107-32DB-71E3-ABC7CD9F4E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09C7D0-9E1A-2C70-D555-B78C8A7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4DDEFF-A009-3F90-A855-24D9A74B2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FCD70-16D7-EF74-C832-D910A1B84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FDE5B-5FF2-945E-4030-04088C8D0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73499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1AE33-4A0F-7B18-60F2-7344FCE0F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53C33-AF60-6616-EE0D-017CAFB10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69ADB-3FFA-97FC-EB20-4EC8CCFAC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B36EB5-2254-5C4F-D332-8BE5315C7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604A47-70C2-CEF4-E886-E85A6220B3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7DB1EA-AC55-8C41-988D-6C8C62B38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417682-512A-B533-0B8C-ABEE66715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AC58F1-7DCD-B037-93D4-72E86054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8810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56F14-B14B-CE23-3F49-E7E9EE067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03F6CF-B919-1A71-32B5-3FED2DE20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06BF8C-0CE0-D343-E1E8-BE180E3F1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BC9AB0-9A7B-550E-F399-CC34C7B55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78288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84213C-1C2F-F286-2100-CB895430B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FF817A-E69A-5522-E854-4204ADE69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E5B65-2B1C-3AAF-6BB3-1C4D3802B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233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0921-8A11-8599-D1D9-7C8FA92E8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D5B99-C545-B711-F12B-51AB26EF0E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A7825-D021-A431-5B60-0B857CBF64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62827-9645-129F-04DA-5928ACA6F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4E906-1787-26F1-BDBB-8E74CFD35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2A84D-561A-75F8-F5DD-380C09F5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24093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F3F02-CE2F-8B0B-58BF-0280D133B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A1DE4B-9FF9-D652-D338-8B2E2DCB38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1572E5-8172-9835-3121-1CA7911831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E7DCEE-8023-BF06-B3ED-AD951CB8A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7FC2F-C97C-09B4-7302-249DDAB77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833BD-72EB-EE27-9CE4-99FA49C4A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66280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A3D7-094A-5F86-61E1-D3FFBB5C9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ADEFD-9FEF-4A18-FDD2-192B5F7DCE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220A9-B877-A63A-E8AA-0167EBECF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7F8C7A-5B16-A42B-4F57-499FAE318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D6CAB-A31C-5011-335F-B49403E64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70560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4C4A3E-A273-E772-A629-7624C36A30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D8DF2-6600-FA67-7DFC-A440E71AF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77BFA-CCDA-1B4E-AC6A-0D842EDE9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90C7F-3846-F4AB-CE1D-73BFADB03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28D95-6AF6-2F2B-8CA8-7003AC57F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4860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F1948A-81FA-F279-3D91-A28CC608A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1EE0C5-2B6D-1AA8-827D-26EEAB0BA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FB6C8-84C7-D9E9-B294-6114FABD32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EB47A1-698F-487C-BCFA-33F914F0FB2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4F3F0C-3179-A9EA-2C8B-EBAFFA388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BE5DA2-0C84-0391-4F89-9F3741EC5E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7CFD9-675F-4445-BF18-446788D164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1025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776D9-D780-4AF8-445A-BBD50A897F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>
                <a:solidFill>
                  <a:srgbClr val="E6D4A3"/>
                </a:solidFill>
              </a:rPr>
              <a:t>The LL(1) Parsing Algorithm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A3BBD6-5ABE-1DEA-E272-511C1B27EC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rgbClr val="978771"/>
                </a:solidFill>
              </a:rPr>
              <a:t>ECM3428: Algorithms that changed the world</a:t>
            </a:r>
          </a:p>
        </p:txBody>
      </p:sp>
    </p:spTree>
    <p:extLst>
      <p:ext uri="{BB962C8B-B14F-4D97-AF65-F5344CB8AC3E}">
        <p14:creationId xmlns:p14="http://schemas.microsoft.com/office/powerpoint/2010/main" val="6977229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59B5E-6779-C6F3-2289-F49350018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E6D4A3"/>
                </a:solidFill>
              </a:rPr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C817F-3C0F-3F5F-E856-8B6B567D0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rgbClr val="E6D4A3"/>
                </a:solidFill>
              </a:rPr>
              <a:t>The </a:t>
            </a:r>
            <a:r>
              <a:rPr lang="en-GB" sz="2400" dirty="0">
                <a:solidFill>
                  <a:srgbClr val="F7B125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LL(1)</a:t>
            </a:r>
            <a:r>
              <a:rPr lang="en-GB" dirty="0">
                <a:solidFill>
                  <a:srgbClr val="E6D4A3"/>
                </a:solidFill>
              </a:rPr>
              <a:t> algorithm is a parser.</a:t>
            </a:r>
          </a:p>
          <a:p>
            <a:r>
              <a:rPr lang="en-GB" dirty="0">
                <a:solidFill>
                  <a:srgbClr val="E6D4A3"/>
                </a:solidFill>
              </a:rPr>
              <a:t>Takes a </a:t>
            </a:r>
            <a:r>
              <a:rPr lang="en-GB" dirty="0">
                <a:solidFill>
                  <a:srgbClr val="F7B125"/>
                </a:solidFill>
              </a:rPr>
              <a:t>grammar</a:t>
            </a:r>
            <a:r>
              <a:rPr lang="en-GB" dirty="0">
                <a:solidFill>
                  <a:srgbClr val="E6D4A3"/>
                </a:solidFill>
              </a:rPr>
              <a:t> and </a:t>
            </a:r>
            <a:r>
              <a:rPr lang="en-GB" dirty="0">
                <a:solidFill>
                  <a:srgbClr val="F7B125"/>
                </a:solidFill>
              </a:rPr>
              <a:t>input string</a:t>
            </a:r>
            <a:r>
              <a:rPr lang="en-GB" dirty="0">
                <a:solidFill>
                  <a:srgbClr val="E6D4A3"/>
                </a:solidFill>
              </a:rPr>
              <a:t> of tokens and outputs whether the input can be generated from the grammar.</a:t>
            </a:r>
          </a:p>
          <a:p>
            <a:r>
              <a:rPr lang="en-GB" dirty="0">
                <a:solidFill>
                  <a:srgbClr val="E6D4A3"/>
                </a:solidFill>
              </a:rPr>
              <a:t>Scans from </a:t>
            </a:r>
            <a:r>
              <a:rPr lang="en-GB" dirty="0">
                <a:solidFill>
                  <a:srgbClr val="F7B125"/>
                </a:solidFill>
              </a:rPr>
              <a:t>left-to-right</a:t>
            </a:r>
            <a:r>
              <a:rPr lang="en-GB" dirty="0">
                <a:solidFill>
                  <a:srgbClr val="E6D4A3"/>
                </a:solidFill>
              </a:rPr>
              <a:t> to find the </a:t>
            </a:r>
            <a:r>
              <a:rPr lang="en-GB" dirty="0">
                <a:solidFill>
                  <a:srgbClr val="F7B125"/>
                </a:solidFill>
              </a:rPr>
              <a:t>leftmost derivation</a:t>
            </a:r>
            <a:r>
              <a:rPr lang="en-GB" dirty="0">
                <a:solidFill>
                  <a:srgbClr val="E6D4A3"/>
                </a:solidFill>
              </a:rPr>
              <a:t> with </a:t>
            </a:r>
            <a:r>
              <a:rPr lang="en-GB" dirty="0">
                <a:solidFill>
                  <a:srgbClr val="F7B125"/>
                </a:solidFill>
              </a:rPr>
              <a:t>1</a:t>
            </a:r>
            <a:r>
              <a:rPr lang="en-GB" dirty="0">
                <a:solidFill>
                  <a:srgbClr val="E6D4A3"/>
                </a:solidFill>
              </a:rPr>
              <a:t> token of lookahead.</a:t>
            </a:r>
            <a:endParaRPr lang="en-GB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  <a:p>
            <a:r>
              <a:rPr lang="en-GB" dirty="0">
                <a:solidFill>
                  <a:srgbClr val="E6D4A3"/>
                </a:solidFill>
              </a:rPr>
              <a:t>Works on a subset of context-free</a:t>
            </a:r>
            <a:br>
              <a:rPr lang="en-GB" dirty="0">
                <a:solidFill>
                  <a:srgbClr val="E6D4A3"/>
                </a:solidFill>
              </a:rPr>
            </a:br>
            <a:r>
              <a:rPr lang="en-GB" dirty="0">
                <a:solidFill>
                  <a:srgbClr val="E6D4A3"/>
                </a:solidFill>
              </a:rPr>
              <a:t>grammars.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33A5292-EF74-62FD-7F15-F14FB94E5121}"/>
              </a:ext>
            </a:extLst>
          </p:cNvPr>
          <p:cNvGrpSpPr/>
          <p:nvPr/>
        </p:nvGrpSpPr>
        <p:grpSpPr>
          <a:xfrm>
            <a:off x="6743411" y="4251181"/>
            <a:ext cx="4191289" cy="1925782"/>
            <a:chOff x="3447761" y="4386118"/>
            <a:chExt cx="4191289" cy="192578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E329FF-A29D-5009-3855-0EA04C8BB822}"/>
                </a:ext>
              </a:extLst>
            </p:cNvPr>
            <p:cNvSpPr/>
            <p:nvPr/>
          </p:nvSpPr>
          <p:spPr>
            <a:xfrm>
              <a:off x="3447761" y="5489863"/>
              <a:ext cx="1274619" cy="822037"/>
            </a:xfrm>
            <a:prstGeom prst="rect">
              <a:avLst/>
            </a:prstGeom>
            <a:solidFill>
              <a:srgbClr val="7195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>
                  <a:solidFill>
                    <a:srgbClr val="282828"/>
                  </a:solidFill>
                  <a:latin typeface="JetBrainsMono NF" panose="02000009000000000000" pitchFamily="50" charset="0"/>
                  <a:ea typeface="JetBrainsMono NF" panose="02000009000000000000" pitchFamily="50" charset="0"/>
                  <a:cs typeface="JetBrainsMono NF" panose="02000009000000000000" pitchFamily="50" charset="0"/>
                </a:rPr>
                <a:t>Grammar</a:t>
              </a:r>
              <a:endParaRPr lang="en-GB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1B3195E-0ACE-9CB3-C21F-B3821A044B38}"/>
                </a:ext>
              </a:extLst>
            </p:cNvPr>
            <p:cNvSpPr/>
            <p:nvPr/>
          </p:nvSpPr>
          <p:spPr>
            <a:xfrm>
              <a:off x="3447761" y="4386118"/>
              <a:ext cx="1274619" cy="822037"/>
            </a:xfrm>
            <a:prstGeom prst="rect">
              <a:avLst/>
            </a:prstGeom>
            <a:solidFill>
              <a:srgbClr val="7195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>
                  <a:solidFill>
                    <a:srgbClr val="282828"/>
                  </a:solidFill>
                  <a:latin typeface="JetBrainsMono NF" panose="02000009000000000000" pitchFamily="50" charset="0"/>
                  <a:ea typeface="JetBrainsMono NF" panose="02000009000000000000" pitchFamily="50" charset="0"/>
                  <a:cs typeface="JetBrainsMono NF" panose="02000009000000000000" pitchFamily="50" charset="0"/>
                </a:rPr>
                <a:t>Input</a:t>
              </a:r>
            </a:p>
            <a:p>
              <a:pPr algn="ctr"/>
              <a:r>
                <a:rPr lang="en-GB" sz="1600" dirty="0">
                  <a:solidFill>
                    <a:srgbClr val="282828"/>
                  </a:solidFill>
                  <a:latin typeface="JetBrainsMono NF" panose="02000009000000000000" pitchFamily="50" charset="0"/>
                  <a:ea typeface="JetBrainsMono NF" panose="02000009000000000000" pitchFamily="50" charset="0"/>
                  <a:cs typeface="JetBrainsMono NF" panose="02000009000000000000" pitchFamily="50" charset="0"/>
                </a:rPr>
                <a:t>Tokens</a:t>
              </a:r>
              <a:endParaRPr lang="en-GB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05BEAC-174D-25BE-5F75-C5B7E3381874}"/>
                </a:ext>
              </a:extLst>
            </p:cNvPr>
            <p:cNvSpPr/>
            <p:nvPr/>
          </p:nvSpPr>
          <p:spPr>
            <a:xfrm>
              <a:off x="5308599" y="4965121"/>
              <a:ext cx="822037" cy="822037"/>
            </a:xfrm>
            <a:prstGeom prst="rect">
              <a:avLst/>
            </a:prstGeom>
            <a:solidFill>
              <a:srgbClr val="F7B12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>
                  <a:solidFill>
                    <a:srgbClr val="282828"/>
                  </a:solidFill>
                  <a:latin typeface="JetBrainsMono NF" panose="02000009000000000000" pitchFamily="50" charset="0"/>
                  <a:ea typeface="JetBrainsMono NF" panose="02000009000000000000" pitchFamily="50" charset="0"/>
                  <a:cs typeface="JetBrainsMono NF" panose="02000009000000000000" pitchFamily="50" charset="0"/>
                </a:rPr>
                <a:t>LL(1)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D019843-BBE1-9126-508B-1484C3C9A57F}"/>
                </a:ext>
              </a:extLst>
            </p:cNvPr>
            <p:cNvSpPr/>
            <p:nvPr/>
          </p:nvSpPr>
          <p:spPr>
            <a:xfrm>
              <a:off x="6629689" y="4965120"/>
              <a:ext cx="1009361" cy="822037"/>
            </a:xfrm>
            <a:prstGeom prst="rect">
              <a:avLst/>
            </a:prstGeom>
            <a:solidFill>
              <a:srgbClr val="AAB0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>
                  <a:solidFill>
                    <a:srgbClr val="282828"/>
                  </a:solidFill>
                  <a:latin typeface="JetBrainsMono NF" panose="02000009000000000000" pitchFamily="50" charset="0"/>
                  <a:ea typeface="JetBrainsMono NF" panose="02000009000000000000" pitchFamily="50" charset="0"/>
                  <a:cs typeface="JetBrainsMono NF" panose="02000009000000000000" pitchFamily="50" charset="0"/>
                </a:rPr>
                <a:t>Valid?</a:t>
              </a:r>
              <a:endParaRPr lang="en-GB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endParaRP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627635FA-DE6F-A17B-167E-2A39934EA268}"/>
                </a:ext>
              </a:extLst>
            </p:cNvPr>
            <p:cNvCxnSpPr>
              <a:cxnSpLocks/>
              <a:stCxn id="35" idx="3"/>
              <a:endCxn id="36" idx="1"/>
            </p:cNvCxnSpPr>
            <p:nvPr/>
          </p:nvCxnSpPr>
          <p:spPr>
            <a:xfrm>
              <a:off x="4722380" y="4797137"/>
              <a:ext cx="586219" cy="579003"/>
            </a:xfrm>
            <a:prstGeom prst="bentConnector3">
              <a:avLst/>
            </a:prstGeom>
            <a:ln>
              <a:solidFill>
                <a:srgbClr val="E6D4A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B1DE76AB-309A-C137-07B2-8BCD4B6B78E7}"/>
                </a:ext>
              </a:extLst>
            </p:cNvPr>
            <p:cNvCxnSpPr>
              <a:cxnSpLocks/>
              <a:stCxn id="34" idx="3"/>
              <a:endCxn id="36" idx="1"/>
            </p:cNvCxnSpPr>
            <p:nvPr/>
          </p:nvCxnSpPr>
          <p:spPr>
            <a:xfrm flipV="1">
              <a:off x="4722380" y="5376140"/>
              <a:ext cx="586219" cy="524742"/>
            </a:xfrm>
            <a:prstGeom prst="bentConnector3">
              <a:avLst/>
            </a:prstGeom>
            <a:ln>
              <a:solidFill>
                <a:srgbClr val="E6D4A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461EADB-66DD-9C90-A2C0-5DCAFAE48B6F}"/>
                </a:ext>
              </a:extLst>
            </p:cNvPr>
            <p:cNvCxnSpPr>
              <a:cxnSpLocks/>
              <a:stCxn id="36" idx="3"/>
              <a:endCxn id="37" idx="1"/>
            </p:cNvCxnSpPr>
            <p:nvPr/>
          </p:nvCxnSpPr>
          <p:spPr>
            <a:xfrm flipV="1">
              <a:off x="6130636" y="5376139"/>
              <a:ext cx="499053" cy="1"/>
            </a:xfrm>
            <a:prstGeom prst="straightConnector1">
              <a:avLst/>
            </a:prstGeom>
            <a:ln>
              <a:solidFill>
                <a:srgbClr val="E6D4A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719856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DDD378-911B-0F80-2DE2-68EE77B9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33C2D-B3C7-70CF-26FD-058D99DD8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1385887"/>
            <a:ext cx="10515600" cy="40862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Tokenised: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'1+(3+6)' =&gt; [id, +, (, id, +, id, ), $]</a:t>
            </a:r>
          </a:p>
          <a:p>
            <a:pPr marL="0" indent="0">
              <a:buNone/>
            </a:pPr>
            <a:endParaRPr lang="en-GB" sz="1400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stack                | input                | action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$E                   |          id+(</a:t>
            </a:r>
            <a:r>
              <a:rPr lang="en-GB" sz="1400" dirty="0" err="1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id+id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)$ | E -&gt; TE'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$E'T                 |          id+(</a:t>
            </a:r>
            <a:r>
              <a:rPr lang="en-GB" sz="1400" dirty="0" err="1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id+id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)$ | T -&gt; FT'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$E'T'F               |          id+(</a:t>
            </a:r>
            <a:r>
              <a:rPr lang="en-GB" sz="1400" dirty="0" err="1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id+id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)$ | F -&gt; id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</a:t>
            </a:r>
            <a:r>
              <a:rPr lang="en-GB" sz="1400" dirty="0" err="1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E'T'id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             |          id+(</a:t>
            </a:r>
            <a:r>
              <a:rPr lang="en-GB" sz="1400" dirty="0" err="1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id+id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)$ | 'id'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$E'T'                |            +(</a:t>
            </a:r>
            <a:r>
              <a:rPr lang="en-GB" sz="1400" dirty="0" err="1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id+id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)$ | T' -&gt; </a:t>
            </a: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ε</a:t>
            </a:r>
            <a:endParaRPr lang="en-GB" sz="1400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...</a:t>
            </a:r>
            <a:endParaRPr lang="el-GR" sz="1400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</a:t>
            </a: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$ε                   |                    $ | 'ε'</a:t>
            </a:r>
          </a:p>
          <a:p>
            <a:pPr marL="0" indent="0">
              <a:buNone/>
            </a:pP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                    |                    $ | '$'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Valid input: </a:t>
            </a:r>
            <a:r>
              <a:rPr lang="en-GB" sz="1400" dirty="0">
                <a:solidFill>
                  <a:srgbClr val="AAB01E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true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7B0B40E-827F-E7F3-F277-614C313737BE}"/>
              </a:ext>
            </a:extLst>
          </p:cNvPr>
          <p:cNvSpPr txBox="1">
            <a:spLocks/>
          </p:cNvSpPr>
          <p:nvPr/>
        </p:nvSpPr>
        <p:spPr>
          <a:xfrm>
            <a:off x="533400" y="781049"/>
            <a:ext cx="10515600" cy="3429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&gt;</a:t>
            </a:r>
            <a:r>
              <a:rPr lang="en-GB" sz="1400" dirty="0">
                <a:solidFill>
                  <a:srgbClr val="F7B125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cargo run "1+(3+6)"</a:t>
            </a:r>
          </a:p>
        </p:txBody>
      </p:sp>
    </p:spTree>
    <p:extLst>
      <p:ext uri="{BB962C8B-B14F-4D97-AF65-F5344CB8AC3E}">
        <p14:creationId xmlns:p14="http://schemas.microsoft.com/office/powerpoint/2010/main" val="3168330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CBF6D2-0542-D486-1E15-7FC713CE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E186D-AA7B-A810-559C-AF0272246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1385887"/>
            <a:ext cx="10515600" cy="40862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Tokenised: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'1+(3+6' =&gt; [id, +, (, id, +, id, $]</a:t>
            </a:r>
          </a:p>
          <a:p>
            <a:pPr marL="0" indent="0">
              <a:buNone/>
            </a:pPr>
            <a:endParaRPr lang="en-GB" sz="1400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stack                | input                | action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$E                   |          id+(</a:t>
            </a:r>
            <a:r>
              <a:rPr lang="en-GB" sz="1400" dirty="0" err="1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id+id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)$ | E -&gt; TE’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...</a:t>
            </a:r>
            <a:endParaRPr lang="el-GR" sz="1400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$E'T')</a:t>
            </a:r>
            <a:r>
              <a:rPr lang="en-GB" sz="1400" dirty="0" err="1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E'T'id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        |                  id$ | 'id'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$E'T')E'T'           |                    $ | T' -&gt; </a:t>
            </a: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ε</a:t>
            </a:r>
          </a:p>
          <a:p>
            <a:pPr marL="0" indent="0">
              <a:buNone/>
            </a:pP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E'T')E'</a:t>
            </a: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ε            |                    $ | 'ε'</a:t>
            </a:r>
          </a:p>
          <a:p>
            <a:pPr marL="0" indent="0">
              <a:buNone/>
            </a:pP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E'T')E'             |                    $ | E' -&gt; </a:t>
            </a: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ε</a:t>
            </a:r>
          </a:p>
          <a:p>
            <a:pPr marL="0" indent="0">
              <a:buNone/>
            </a:pP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E'T')</a:t>
            </a: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ε              |                    $ | 'ε'</a:t>
            </a:r>
          </a:p>
          <a:p>
            <a:pPr marL="0" indent="0">
              <a:buNone/>
            </a:pPr>
            <a:r>
              <a:rPr lang="el-GR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$</a:t>
            </a: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E'T')               |                    $ | </a:t>
            </a:r>
            <a:r>
              <a:rPr lang="en-GB" sz="14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Syntax Error: Expected ')', found '$’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Valid input: </a:t>
            </a:r>
            <a:r>
              <a:rPr lang="en-GB" sz="14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false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1D3A698-ADEA-3774-1EE0-24ADE1ACB2F7}"/>
              </a:ext>
            </a:extLst>
          </p:cNvPr>
          <p:cNvSpPr txBox="1">
            <a:spLocks/>
          </p:cNvSpPr>
          <p:nvPr/>
        </p:nvSpPr>
        <p:spPr>
          <a:xfrm>
            <a:off x="533400" y="781049"/>
            <a:ext cx="10515600" cy="3429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&gt;</a:t>
            </a:r>
            <a:r>
              <a:rPr lang="en-GB" sz="1400" dirty="0">
                <a:solidFill>
                  <a:srgbClr val="F7B125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cargo run "1+(3+6"</a:t>
            </a:r>
          </a:p>
        </p:txBody>
      </p:sp>
    </p:spTree>
    <p:extLst>
      <p:ext uri="{BB962C8B-B14F-4D97-AF65-F5344CB8AC3E}">
        <p14:creationId xmlns:p14="http://schemas.microsoft.com/office/powerpoint/2010/main" val="15436520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A644FA-7620-D8A5-5192-5C357296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5B66F-75E4-C761-C645-19142A7D3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E6D4A3"/>
                </a:solidFill>
              </a:rPr>
              <a:t>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554DB-696B-EC70-453C-2E735282A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79084"/>
          </a:xfrm>
        </p:spPr>
        <p:txBody>
          <a:bodyPr/>
          <a:lstStyle/>
          <a:p>
            <a:r>
              <a:rPr lang="en-GB" dirty="0">
                <a:solidFill>
                  <a:srgbClr val="E6D4A3"/>
                </a:solidFill>
              </a:rPr>
              <a:t>Requires an </a:t>
            </a:r>
            <a:r>
              <a:rPr lang="en-GB" dirty="0">
                <a:solidFill>
                  <a:srgbClr val="F7B125"/>
                </a:solidFill>
              </a:rPr>
              <a:t>input buffer</a:t>
            </a:r>
            <a:r>
              <a:rPr lang="en-GB" dirty="0">
                <a:solidFill>
                  <a:srgbClr val="E6D4A3"/>
                </a:solidFill>
              </a:rPr>
              <a:t>, </a:t>
            </a:r>
            <a:r>
              <a:rPr lang="en-GB" dirty="0">
                <a:solidFill>
                  <a:srgbClr val="F7B125"/>
                </a:solidFill>
              </a:rPr>
              <a:t>stack</a:t>
            </a:r>
            <a:r>
              <a:rPr lang="en-GB" dirty="0">
                <a:solidFill>
                  <a:srgbClr val="E6D4A3"/>
                </a:solidFill>
              </a:rPr>
              <a:t>, and </a:t>
            </a:r>
            <a:r>
              <a:rPr lang="en-GB" dirty="0">
                <a:solidFill>
                  <a:srgbClr val="F7B125"/>
                </a:solidFill>
              </a:rPr>
              <a:t>parsing table</a:t>
            </a:r>
            <a:r>
              <a:rPr lang="en-GB" dirty="0">
                <a:solidFill>
                  <a:srgbClr val="E6D4A3"/>
                </a:solidFill>
              </a:rPr>
              <a:t>.</a:t>
            </a:r>
          </a:p>
          <a:p>
            <a:r>
              <a:rPr lang="en-GB" dirty="0">
                <a:solidFill>
                  <a:srgbClr val="E6D4A3"/>
                </a:solidFill>
              </a:rPr>
              <a:t>The parsing table is precomputed from the grammar.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B5BEA7-964C-1DA2-8A74-6D226AB06E77}"/>
              </a:ext>
            </a:extLst>
          </p:cNvPr>
          <p:cNvSpPr/>
          <p:nvPr/>
        </p:nvSpPr>
        <p:spPr>
          <a:xfrm>
            <a:off x="10409299" y="4731912"/>
            <a:ext cx="1274619" cy="822037"/>
          </a:xfrm>
          <a:prstGeom prst="rect">
            <a:avLst/>
          </a:prstGeom>
          <a:solidFill>
            <a:srgbClr val="7195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Input</a:t>
            </a:r>
          </a:p>
          <a:p>
            <a:pPr algn="ctr"/>
            <a:r>
              <a:rPr lang="en-GB" sz="1600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Tokens</a:t>
            </a:r>
            <a:endParaRPr lang="en-GB" dirty="0">
              <a:solidFill>
                <a:srgbClr val="282828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46C06F-034F-7D83-1BB9-5367F648E4B7}"/>
              </a:ext>
            </a:extLst>
          </p:cNvPr>
          <p:cNvSpPr/>
          <p:nvPr/>
        </p:nvSpPr>
        <p:spPr>
          <a:xfrm>
            <a:off x="7459725" y="5347931"/>
            <a:ext cx="822037" cy="822037"/>
          </a:xfrm>
          <a:prstGeom prst="rect">
            <a:avLst/>
          </a:prstGeom>
          <a:solidFill>
            <a:srgbClr val="F7B1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LL(1)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622E67-E22E-82E9-834B-EF58E129C577}"/>
              </a:ext>
            </a:extLst>
          </p:cNvPr>
          <p:cNvSpPr/>
          <p:nvPr/>
        </p:nvSpPr>
        <p:spPr>
          <a:xfrm>
            <a:off x="8780815" y="5347930"/>
            <a:ext cx="1009361" cy="822037"/>
          </a:xfrm>
          <a:prstGeom prst="rect">
            <a:avLst/>
          </a:prstGeom>
          <a:solidFill>
            <a:srgbClr val="AAB0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Valid?</a:t>
            </a:r>
            <a:endParaRPr lang="en-GB" dirty="0">
              <a:solidFill>
                <a:srgbClr val="282828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F0C368-8F45-70D4-E270-3360D7F359A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8281762" y="5758949"/>
            <a:ext cx="499053" cy="1"/>
          </a:xfrm>
          <a:prstGeom prst="straightConnector1">
            <a:avLst/>
          </a:prstGeom>
          <a:ln>
            <a:solidFill>
              <a:srgbClr val="E6D4A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9D8F2310-16D4-6BB3-6329-7F6544B3BE0E}"/>
              </a:ext>
            </a:extLst>
          </p:cNvPr>
          <p:cNvSpPr/>
          <p:nvPr/>
        </p:nvSpPr>
        <p:spPr>
          <a:xfrm>
            <a:off x="8247123" y="4223752"/>
            <a:ext cx="1704975" cy="373493"/>
          </a:xfrm>
          <a:prstGeom prst="rect">
            <a:avLst/>
          </a:prstGeom>
          <a:solidFill>
            <a:srgbClr val="7F70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Input Buffer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39EE04-C0FE-37DE-464A-9288B122D96A}"/>
              </a:ext>
            </a:extLst>
          </p:cNvPr>
          <p:cNvSpPr/>
          <p:nvPr/>
        </p:nvSpPr>
        <p:spPr>
          <a:xfrm>
            <a:off x="8247124" y="4726395"/>
            <a:ext cx="1704975" cy="373493"/>
          </a:xfrm>
          <a:prstGeom prst="rect">
            <a:avLst/>
          </a:prstGeom>
          <a:solidFill>
            <a:srgbClr val="7F70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Stack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D14CFA-6272-725B-B7B1-E00FDCD159A9}"/>
              </a:ext>
            </a:extLst>
          </p:cNvPr>
          <p:cNvSpPr/>
          <p:nvPr/>
        </p:nvSpPr>
        <p:spPr>
          <a:xfrm>
            <a:off x="8247126" y="3721109"/>
            <a:ext cx="1704975" cy="373493"/>
          </a:xfrm>
          <a:prstGeom prst="rect">
            <a:avLst/>
          </a:prstGeom>
          <a:solidFill>
            <a:srgbClr val="7F70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Parse Table</a:t>
            </a: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5EBE5FDB-90EB-DD4A-C1A9-C8700F049C03}"/>
              </a:ext>
            </a:extLst>
          </p:cNvPr>
          <p:cNvSpPr txBox="1">
            <a:spLocks/>
          </p:cNvSpPr>
          <p:nvPr/>
        </p:nvSpPr>
        <p:spPr>
          <a:xfrm>
            <a:off x="838199" y="2847974"/>
            <a:ext cx="6506441" cy="38681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E6D4A3"/>
                </a:solidFill>
              </a:rPr>
              <a:t>Let </a:t>
            </a:r>
            <a:r>
              <a:rPr lang="en-GB" sz="24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X</a:t>
            </a:r>
            <a:r>
              <a:rPr lang="en-GB" dirty="0">
                <a:solidFill>
                  <a:srgbClr val="E6D4A3"/>
                </a:solidFill>
              </a:rPr>
              <a:t> be the symbol on the top of the stack, and </a:t>
            </a:r>
            <a:r>
              <a:rPr lang="en-GB" sz="2400" i="1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a</a:t>
            </a:r>
            <a:r>
              <a:rPr lang="en-GB" dirty="0">
                <a:solidFill>
                  <a:srgbClr val="E6D4A3"/>
                </a:solidFill>
              </a:rPr>
              <a:t> the current input token:</a:t>
            </a:r>
          </a:p>
          <a:p>
            <a:pPr lvl="1"/>
            <a:r>
              <a:rPr lang="en-GB" dirty="0">
                <a:solidFill>
                  <a:srgbClr val="E6D4A3"/>
                </a:solidFill>
              </a:rPr>
              <a:t>If </a:t>
            </a:r>
            <a:r>
              <a:rPr lang="en-GB" sz="20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X =</a:t>
            </a:r>
            <a:r>
              <a:rPr lang="en-GB" sz="20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 </a:t>
            </a:r>
            <a:r>
              <a:rPr lang="en-GB" sz="2000" i="1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a = </a:t>
            </a:r>
            <a:r>
              <a:rPr lang="en-GB" sz="20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$</a:t>
            </a:r>
            <a:r>
              <a:rPr lang="en-GB" dirty="0">
                <a:solidFill>
                  <a:srgbClr val="E6D4A3"/>
                </a:solidFill>
              </a:rPr>
              <a:t>, the input is </a:t>
            </a:r>
            <a:r>
              <a:rPr lang="en-GB" dirty="0">
                <a:solidFill>
                  <a:srgbClr val="F7B125"/>
                </a:solidFill>
              </a:rPr>
              <a:t>valid</a:t>
            </a:r>
            <a:r>
              <a:rPr lang="en-GB" dirty="0">
                <a:solidFill>
                  <a:srgbClr val="E6D4A3"/>
                </a:solidFill>
              </a:rPr>
              <a:t>.</a:t>
            </a:r>
          </a:p>
          <a:p>
            <a:pPr lvl="1"/>
            <a:r>
              <a:rPr lang="en-GB" dirty="0">
                <a:solidFill>
                  <a:srgbClr val="E6D4A3"/>
                </a:solidFill>
              </a:rPr>
              <a:t>If </a:t>
            </a:r>
            <a:r>
              <a:rPr lang="en-GB" sz="20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X = </a:t>
            </a:r>
            <a:r>
              <a:rPr lang="en-GB" sz="2000" i="1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a</a:t>
            </a:r>
            <a:r>
              <a:rPr lang="en-GB" dirty="0">
                <a:solidFill>
                  <a:srgbClr val="E6D4A3"/>
                </a:solidFill>
              </a:rPr>
              <a:t>, pop </a:t>
            </a:r>
            <a:r>
              <a:rPr lang="en-GB" sz="20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X</a:t>
            </a:r>
            <a:r>
              <a:rPr lang="en-GB" dirty="0">
                <a:solidFill>
                  <a:srgbClr val="E6D4A3"/>
                </a:solidFill>
              </a:rPr>
              <a:t> and advance to the next token.</a:t>
            </a:r>
          </a:p>
          <a:p>
            <a:pPr lvl="1"/>
            <a:r>
              <a:rPr lang="en-GB" dirty="0">
                <a:solidFill>
                  <a:srgbClr val="E6D4A3"/>
                </a:solidFill>
              </a:rPr>
              <a:t>If </a:t>
            </a:r>
            <a:r>
              <a:rPr lang="en-GB" sz="20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X</a:t>
            </a:r>
            <a:r>
              <a:rPr lang="en-GB" dirty="0">
                <a:solidFill>
                  <a:srgbClr val="E6D4A3"/>
                </a:solidFill>
              </a:rPr>
              <a:t> is a </a:t>
            </a:r>
            <a:r>
              <a:rPr lang="en-GB" dirty="0">
                <a:solidFill>
                  <a:srgbClr val="F7B125"/>
                </a:solidFill>
              </a:rPr>
              <a:t>nonterminal</a:t>
            </a:r>
            <a:r>
              <a:rPr lang="en-GB" dirty="0">
                <a:solidFill>
                  <a:srgbClr val="E6D4A3"/>
                </a:solidFill>
              </a:rPr>
              <a:t>, pop  </a:t>
            </a:r>
            <a:r>
              <a:rPr lang="en-GB" sz="20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X</a:t>
            </a:r>
            <a:r>
              <a:rPr lang="en-GB" dirty="0">
                <a:solidFill>
                  <a:srgbClr val="E6D4A3"/>
                </a:solidFill>
              </a:rPr>
              <a:t> and </a:t>
            </a:r>
            <a:br>
              <a:rPr lang="en-GB" dirty="0">
                <a:solidFill>
                  <a:srgbClr val="E6D4A3"/>
                </a:solidFill>
              </a:rPr>
            </a:br>
            <a:r>
              <a:rPr lang="en-GB" dirty="0">
                <a:solidFill>
                  <a:srgbClr val="E6D4A3"/>
                </a:solidFill>
              </a:rPr>
              <a:t>push </a:t>
            </a:r>
            <a:r>
              <a:rPr lang="en-GB" sz="20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Table[X, </a:t>
            </a:r>
            <a:r>
              <a:rPr lang="en-GB" sz="2000" i="1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a</a:t>
            </a:r>
            <a:r>
              <a:rPr lang="en-GB" sz="20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]</a:t>
            </a:r>
            <a:r>
              <a:rPr lang="en-GB" dirty="0">
                <a:solidFill>
                  <a:srgbClr val="E6D4A3"/>
                </a:solidFill>
              </a:rPr>
              <a:t> to the stack.</a:t>
            </a:r>
          </a:p>
          <a:p>
            <a:r>
              <a:rPr lang="en-GB" dirty="0">
                <a:solidFill>
                  <a:srgbClr val="E6D4A3"/>
                </a:solidFill>
              </a:rPr>
              <a:t>Identify a </a:t>
            </a:r>
            <a:r>
              <a:rPr lang="en-GB" dirty="0">
                <a:solidFill>
                  <a:srgbClr val="F7B125"/>
                </a:solidFill>
              </a:rPr>
              <a:t>syntax error </a:t>
            </a:r>
            <a:r>
              <a:rPr lang="en-GB" dirty="0">
                <a:solidFill>
                  <a:srgbClr val="E6D4A3"/>
                </a:solidFill>
              </a:rPr>
              <a:t>if </a:t>
            </a:r>
            <a:r>
              <a:rPr lang="en-GB" sz="24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Table[X, </a:t>
            </a:r>
            <a:r>
              <a:rPr lang="en-GB" sz="2400" i="1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a</a:t>
            </a:r>
            <a:r>
              <a:rPr lang="en-GB" sz="2400" dirty="0">
                <a:solidFill>
                  <a:srgbClr val="F730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]</a:t>
            </a:r>
            <a:r>
              <a:rPr lang="en-GB" sz="2400" dirty="0">
                <a:solidFill>
                  <a:srgbClr val="E6D4A3"/>
                </a:solidFill>
              </a:rPr>
              <a:t> is empty.</a:t>
            </a:r>
            <a:r>
              <a:rPr lang="en-GB" dirty="0">
                <a:solidFill>
                  <a:srgbClr val="E6D4A3"/>
                </a:solidFill>
              </a:rPr>
              <a:t> </a:t>
            </a:r>
          </a:p>
          <a:p>
            <a:pPr lvl="1"/>
            <a:endParaRPr lang="en-GB" dirty="0">
              <a:solidFill>
                <a:srgbClr val="E6D4A3"/>
              </a:solidFill>
            </a:endParaRPr>
          </a:p>
          <a:p>
            <a:endParaRPr lang="en-GB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6523F0D-AE29-2D0D-AA44-33025758C006}"/>
              </a:ext>
            </a:extLst>
          </p:cNvPr>
          <p:cNvSpPr/>
          <p:nvPr/>
        </p:nvSpPr>
        <p:spPr>
          <a:xfrm>
            <a:off x="10409299" y="1575993"/>
            <a:ext cx="1274619" cy="822037"/>
          </a:xfrm>
          <a:prstGeom prst="rect">
            <a:avLst/>
          </a:prstGeom>
          <a:solidFill>
            <a:srgbClr val="7195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Grammar</a:t>
            </a:r>
            <a:endParaRPr lang="en-GB" dirty="0">
              <a:solidFill>
                <a:srgbClr val="282828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4E9047E-F7AB-4A78-1F78-5EBD60A368E2}"/>
              </a:ext>
            </a:extLst>
          </p:cNvPr>
          <p:cNvSpPr/>
          <p:nvPr/>
        </p:nvSpPr>
        <p:spPr>
          <a:xfrm>
            <a:off x="10409300" y="2761352"/>
            <a:ext cx="1274619" cy="822037"/>
          </a:xfrm>
          <a:prstGeom prst="rect">
            <a:avLst/>
          </a:prstGeom>
          <a:solidFill>
            <a:srgbClr val="C770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Table</a:t>
            </a:r>
          </a:p>
          <a:p>
            <a:pPr algn="ctr"/>
            <a:r>
              <a:rPr lang="en-GB" sz="1600" dirty="0">
                <a:solidFill>
                  <a:srgbClr val="282828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Gen.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4D6CF4A-7320-0A2F-7DA8-D3C738AFEE6C}"/>
              </a:ext>
            </a:extLst>
          </p:cNvPr>
          <p:cNvCxnSpPr>
            <a:stCxn id="40" idx="2"/>
            <a:endCxn id="42" idx="0"/>
          </p:cNvCxnSpPr>
          <p:nvPr/>
        </p:nvCxnSpPr>
        <p:spPr>
          <a:xfrm>
            <a:off x="11046609" y="2398030"/>
            <a:ext cx="1" cy="363322"/>
          </a:xfrm>
          <a:prstGeom prst="straightConnector1">
            <a:avLst/>
          </a:prstGeom>
          <a:ln>
            <a:solidFill>
              <a:srgbClr val="E6D4A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CACBCFC-1605-A6F2-2069-B1B4CA2A7DA7}"/>
              </a:ext>
            </a:extLst>
          </p:cNvPr>
          <p:cNvCxnSpPr>
            <a:cxnSpLocks/>
          </p:cNvCxnSpPr>
          <p:nvPr/>
        </p:nvCxnSpPr>
        <p:spPr>
          <a:xfrm rot="5400000">
            <a:off x="10337120" y="3226247"/>
            <a:ext cx="324467" cy="1094509"/>
          </a:xfrm>
          <a:prstGeom prst="bentConnector2">
            <a:avLst/>
          </a:prstGeom>
          <a:ln>
            <a:solidFill>
              <a:srgbClr val="E6D4A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F959BCA0-7DEC-6977-8852-FC9EE55E8E9C}"/>
              </a:ext>
            </a:extLst>
          </p:cNvPr>
          <p:cNvCxnSpPr>
            <a:stCxn id="5" idx="0"/>
            <a:endCxn id="11" idx="3"/>
          </p:cNvCxnSpPr>
          <p:nvPr/>
        </p:nvCxnSpPr>
        <p:spPr>
          <a:xfrm rot="16200000" flipV="1">
            <a:off x="10338648" y="4023950"/>
            <a:ext cx="321413" cy="1094511"/>
          </a:xfrm>
          <a:prstGeom prst="bentConnector2">
            <a:avLst/>
          </a:prstGeom>
          <a:ln>
            <a:solidFill>
              <a:srgbClr val="E6D4A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1435911-9B30-24D8-728F-5E92DAA487D4}"/>
              </a:ext>
            </a:extLst>
          </p:cNvPr>
          <p:cNvCxnSpPr>
            <a:stCxn id="14" idx="1"/>
            <a:endCxn id="6" idx="0"/>
          </p:cNvCxnSpPr>
          <p:nvPr/>
        </p:nvCxnSpPr>
        <p:spPr>
          <a:xfrm rot="10800000" flipV="1">
            <a:off x="7870744" y="3907855"/>
            <a:ext cx="376382" cy="1440075"/>
          </a:xfrm>
          <a:prstGeom prst="bentConnector2">
            <a:avLst/>
          </a:prstGeom>
          <a:ln>
            <a:solidFill>
              <a:srgbClr val="E6D4A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BAE3FA85-C0E2-B9CB-6F74-7DD9EBD714F5}"/>
              </a:ext>
            </a:extLst>
          </p:cNvPr>
          <p:cNvCxnSpPr>
            <a:stCxn id="11" idx="1"/>
            <a:endCxn id="6" idx="0"/>
          </p:cNvCxnSpPr>
          <p:nvPr/>
        </p:nvCxnSpPr>
        <p:spPr>
          <a:xfrm rot="10800000" flipV="1">
            <a:off x="7870745" y="4410499"/>
            <a:ext cx="376379" cy="937432"/>
          </a:xfrm>
          <a:prstGeom prst="bentConnector2">
            <a:avLst/>
          </a:prstGeom>
          <a:ln>
            <a:solidFill>
              <a:srgbClr val="E6D4A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0ECC78-4DB2-4182-AEC0-C227CAF4DA80}"/>
              </a:ext>
            </a:extLst>
          </p:cNvPr>
          <p:cNvCxnSpPr>
            <a:stCxn id="13" idx="1"/>
            <a:endCxn id="6" idx="0"/>
          </p:cNvCxnSpPr>
          <p:nvPr/>
        </p:nvCxnSpPr>
        <p:spPr>
          <a:xfrm rot="10800000" flipV="1">
            <a:off x="7870744" y="4913141"/>
            <a:ext cx="376380" cy="434789"/>
          </a:xfrm>
          <a:prstGeom prst="bentConnector2">
            <a:avLst/>
          </a:prstGeom>
          <a:ln>
            <a:solidFill>
              <a:srgbClr val="E6D4A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312EF71E-FFAA-377D-0217-4DDE9EA8888C}"/>
              </a:ext>
            </a:extLst>
          </p:cNvPr>
          <p:cNvCxnSpPr>
            <a:stCxn id="6" idx="0"/>
            <a:endCxn id="13" idx="1"/>
          </p:cNvCxnSpPr>
          <p:nvPr/>
        </p:nvCxnSpPr>
        <p:spPr>
          <a:xfrm rot="5400000" flipH="1" flipV="1">
            <a:off x="7841540" y="4942347"/>
            <a:ext cx="434789" cy="376380"/>
          </a:xfrm>
          <a:prstGeom prst="bentConnector2">
            <a:avLst/>
          </a:prstGeom>
          <a:ln>
            <a:solidFill>
              <a:srgbClr val="E6D4A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0425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691E36-13A2-46D0-C661-6AEA8B82C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DB15A-BCC2-8AE7-3380-91D5BA631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E6D4A3"/>
                </a:solidFill>
              </a:rPr>
              <a:t>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CD6B2-439F-0E9E-F2D0-146A9A5F8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rgbClr val="E6D4A3"/>
                </a:solidFill>
              </a:rPr>
              <a:t>Used where </a:t>
            </a:r>
            <a:r>
              <a:rPr lang="en-GB" dirty="0">
                <a:solidFill>
                  <a:srgbClr val="F7B125"/>
                </a:solidFill>
              </a:rPr>
              <a:t>high performance </a:t>
            </a:r>
            <a:r>
              <a:rPr lang="en-GB" dirty="0">
                <a:solidFill>
                  <a:srgbClr val="E6D4A3"/>
                </a:solidFill>
              </a:rPr>
              <a:t>is needed, for example syntax highlighting in IDEs.</a:t>
            </a:r>
            <a:endParaRPr lang="en-GB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  <a:p>
            <a:r>
              <a:rPr lang="en-GB" dirty="0">
                <a:solidFill>
                  <a:srgbClr val="E6D4A3"/>
                </a:solidFill>
                <a:ea typeface="JetBrainsMono NF" panose="02000009000000000000" pitchFamily="50" charset="0"/>
                <a:cs typeface="JetBrainsMono NF" panose="02000009000000000000" pitchFamily="50" charset="0"/>
              </a:rPr>
              <a:t>Domain specific languages (SQL, JSON).</a:t>
            </a:r>
          </a:p>
          <a:p>
            <a:r>
              <a:rPr lang="en-GB" dirty="0">
                <a:solidFill>
                  <a:srgbClr val="E6D4A3"/>
                </a:solidFill>
              </a:rPr>
              <a:t>Can be </a:t>
            </a:r>
            <a:r>
              <a:rPr lang="en-GB" dirty="0">
                <a:solidFill>
                  <a:srgbClr val="F7B125"/>
                </a:solidFill>
              </a:rPr>
              <a:t>verified</a:t>
            </a:r>
            <a:r>
              <a:rPr lang="en-GB" dirty="0">
                <a:solidFill>
                  <a:srgbClr val="E6D4A3"/>
                </a:solidFill>
              </a:rPr>
              <a:t>.</a:t>
            </a:r>
          </a:p>
          <a:p>
            <a:r>
              <a:rPr lang="en-GB" dirty="0">
                <a:solidFill>
                  <a:srgbClr val="E6D4A3"/>
                </a:solidFill>
              </a:rPr>
              <a:t>Where LL(1) is </a:t>
            </a:r>
            <a:r>
              <a:rPr lang="en-GB" sz="2400" dirty="0">
                <a:solidFill>
                  <a:srgbClr val="F7B125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O(n)</a:t>
            </a:r>
            <a:r>
              <a:rPr lang="en-GB" dirty="0">
                <a:solidFill>
                  <a:srgbClr val="E6D4A3"/>
                </a:solidFill>
              </a:rPr>
              <a:t>, algorithms to parse harder languages (C++, Python) are up to </a:t>
            </a:r>
            <a:r>
              <a:rPr lang="en-GB" sz="2400" dirty="0">
                <a:solidFill>
                  <a:srgbClr val="F7B125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O(n</a:t>
            </a:r>
            <a:r>
              <a:rPr lang="en-GB" sz="2400" baseline="30000" dirty="0">
                <a:solidFill>
                  <a:srgbClr val="F7B125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3</a:t>
            </a:r>
            <a:r>
              <a:rPr lang="en-GB" sz="2400" dirty="0">
                <a:solidFill>
                  <a:srgbClr val="F7B125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)</a:t>
            </a:r>
            <a:r>
              <a:rPr lang="en-GB" sz="2400" dirty="0">
                <a:solidFill>
                  <a:srgbClr val="E6D4A3"/>
                </a:solidFill>
                <a:latin typeface="JetBrainsMono NF" panose="02000009000000000000" pitchFamily="50" charset="0"/>
                <a:ea typeface="JetBrainsMono NF" panose="02000009000000000000" pitchFamily="50" charset="0"/>
                <a:cs typeface="JetBrainsMono NF" panose="02000009000000000000" pitchFamily="50" charset="0"/>
              </a:rPr>
              <a:t>.</a:t>
            </a:r>
            <a:endParaRPr lang="en-GB" dirty="0">
              <a:solidFill>
                <a:srgbClr val="E6D4A3"/>
              </a:solidFill>
              <a:latin typeface="JetBrainsMono NF" panose="02000009000000000000" pitchFamily="50" charset="0"/>
              <a:ea typeface="JetBrainsMono NF" panose="02000009000000000000" pitchFamily="50" charset="0"/>
              <a:cs typeface="JetBrainsMono NF" panose="02000009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71838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26FABE-28E8-34ED-F428-388F5993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93B3E-A6AE-2D0D-F40A-7806ECA53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E6D4A3"/>
                </a:solidFill>
              </a:rPr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93503-DA5C-169A-2BDD-D7B0BFFE3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rgbClr val="E6D4A3"/>
                </a:solidFill>
                <a:ea typeface="JetBrainsMono NF" panose="02000009000000000000" pitchFamily="50" charset="0"/>
                <a:cs typeface="JetBrainsMono NF" panose="02000009000000000000" pitchFamily="50" charset="0"/>
              </a:rPr>
              <a:t>Grammar definition</a:t>
            </a:r>
          </a:p>
          <a:p>
            <a:r>
              <a:rPr lang="en-GB" dirty="0">
                <a:solidFill>
                  <a:srgbClr val="E6D4A3"/>
                </a:solidFill>
                <a:ea typeface="JetBrainsMono NF" panose="02000009000000000000" pitchFamily="50" charset="0"/>
                <a:cs typeface="JetBrainsMono NF" panose="02000009000000000000" pitchFamily="50" charset="0"/>
              </a:rPr>
              <a:t>Table generator</a:t>
            </a:r>
          </a:p>
          <a:p>
            <a:pPr lvl="1"/>
            <a:r>
              <a:rPr lang="en-GB" dirty="0">
                <a:solidFill>
                  <a:srgbClr val="E6D4A3"/>
                </a:solidFill>
                <a:ea typeface="JetBrainsMono NF" panose="02000009000000000000" pitchFamily="50" charset="0"/>
                <a:cs typeface="JetBrainsMono NF" panose="02000009000000000000" pitchFamily="50" charset="0"/>
              </a:rPr>
              <a:t>First and Follow sets</a:t>
            </a:r>
          </a:p>
          <a:p>
            <a:r>
              <a:rPr lang="en-GB" dirty="0">
                <a:solidFill>
                  <a:srgbClr val="E6D4A3"/>
                </a:solidFill>
                <a:ea typeface="JetBrainsMono NF" panose="02000009000000000000" pitchFamily="50" charset="0"/>
                <a:cs typeface="JetBrainsMono NF" panose="02000009000000000000" pitchFamily="50" charset="0"/>
              </a:rPr>
              <a:t>Parser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598AC7-F818-2639-D3B1-452D09B39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6" y="2162712"/>
            <a:ext cx="1609950" cy="183858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3B71874-5BA0-96B9-E2E0-E738D680A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5007" y="406202"/>
            <a:ext cx="1838582" cy="14194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FF36DC-74ED-D856-A2EC-7228B9969F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07"/>
          <a:stretch>
            <a:fillRect/>
          </a:stretch>
        </p:blipFill>
        <p:spPr>
          <a:xfrm>
            <a:off x="6416646" y="3734303"/>
            <a:ext cx="3243609" cy="206721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BEBD97A-01D0-4296-1091-0AC3411730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60"/>
          <a:stretch>
            <a:fillRect/>
          </a:stretch>
        </p:blipFill>
        <p:spPr>
          <a:xfrm>
            <a:off x="6805443" y="1115912"/>
            <a:ext cx="3181922" cy="2095792"/>
          </a:xfrm>
          <a:prstGeom prst="rect">
            <a:avLst/>
          </a:prstGeom>
        </p:spPr>
      </p:pic>
      <p:pic>
        <p:nvPicPr>
          <p:cNvPr id="24" name="Picture 23" descr="A book cover with a dragon and a computer&#10;&#10;AI-generated content may be incorrect.">
            <a:extLst>
              <a:ext uri="{FF2B5EF4-FFF2-40B4-BE49-F238E27FC236}">
                <a16:creationId xmlns:a16="http://schemas.microsoft.com/office/drawing/2014/main" id="{755B0443-A1D5-8F50-98AA-55474EDA4F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67" r="11493"/>
          <a:stretch>
            <a:fillRect/>
          </a:stretch>
        </p:blipFill>
        <p:spPr>
          <a:xfrm>
            <a:off x="10538324" y="406202"/>
            <a:ext cx="1204273" cy="1587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5637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95CB76-5EAB-5529-EF4F-96B278E0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010AF89-C756-8F7E-0928-04E098B04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296449" cy="6858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9B4159F-8132-C763-E19E-B46B0255E223}"/>
              </a:ext>
            </a:extLst>
          </p:cNvPr>
          <p:cNvSpPr/>
          <p:nvPr/>
        </p:nvSpPr>
        <p:spPr>
          <a:xfrm>
            <a:off x="835819" y="0"/>
            <a:ext cx="1902619" cy="20478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861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7C778A-8E1E-5E3D-BEB6-160FB4C22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B44AD3-DD76-260D-EB02-E1C6D571C762}"/>
              </a:ext>
            </a:extLst>
          </p:cNvPr>
          <p:cNvSpPr txBox="1"/>
          <p:nvPr/>
        </p:nvSpPr>
        <p:spPr>
          <a:xfrm>
            <a:off x="742950" y="3244334"/>
            <a:ext cx="10706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E6D4A3"/>
                </a:solidFill>
              </a:rPr>
              <a:t>[1] </a:t>
            </a:r>
            <a:r>
              <a:rPr lang="en-US" dirty="0">
                <a:solidFill>
                  <a:srgbClr val="E6D4A3"/>
                </a:solidFill>
              </a:rPr>
              <a:t>A. V. Aho, R. Sethi, and J. D. Ullman, Compilers: principles, techniques, and tools. Addison-Wesley, 1988</a:t>
            </a:r>
            <a:endParaRPr lang="en-GB" dirty="0">
              <a:solidFill>
                <a:srgbClr val="E6D4A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69047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544</Words>
  <Application>Microsoft Office PowerPoint</Application>
  <PresentationFormat>Widescreen</PresentationFormat>
  <Paragraphs>71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JetBrainsMono NF</vt:lpstr>
      <vt:lpstr>Office Theme</vt:lpstr>
      <vt:lpstr>The LL(1) Parsing Algorithm</vt:lpstr>
      <vt:lpstr>Background</vt:lpstr>
      <vt:lpstr>PowerPoint Presentation</vt:lpstr>
      <vt:lpstr>PowerPoint Presentation</vt:lpstr>
      <vt:lpstr>Principles</vt:lpstr>
      <vt:lpstr>Importance</vt:lpstr>
      <vt:lpstr>Implementation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Matthewson, Kit</dc:creator>
  <cp:lastModifiedBy>Matthewson, Kit</cp:lastModifiedBy>
  <cp:revision>3</cp:revision>
  <dcterms:created xsi:type="dcterms:W3CDTF">2025-11-19T10:27:40Z</dcterms:created>
  <dcterms:modified xsi:type="dcterms:W3CDTF">2025-11-19T13:39:44Z</dcterms:modified>
</cp:coreProperties>
</file>