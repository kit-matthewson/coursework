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5" r:id="rId5"/>
    <p:sldId id="264" r:id="rId6"/>
    <p:sldId id="259" r:id="rId7"/>
    <p:sldId id="260" r:id="rId8"/>
    <p:sldId id="262"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2828"/>
    <a:srgbClr val="E6D4A3"/>
    <a:srgbClr val="F73028"/>
    <a:srgbClr val="AAB01E"/>
    <a:srgbClr val="F7B125"/>
    <a:srgbClr val="C77089"/>
    <a:srgbClr val="7F7061"/>
    <a:srgbClr val="9C988A"/>
    <a:srgbClr val="719586"/>
    <a:srgbClr val="9787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7885" autoAdjust="0"/>
  </p:normalViewPr>
  <p:slideViewPr>
    <p:cSldViewPr snapToGrid="0">
      <p:cViewPr varScale="1">
        <p:scale>
          <a:sx n="60" d="100"/>
          <a:sy n="60" d="100"/>
        </p:scale>
        <p:origin x="2526" y="3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D4026E-E2EC-477B-960E-945FF632FE1F}" type="datetimeFigureOut">
              <a:rPr lang="en-GB" smtClean="0"/>
              <a:t>19/11/2025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624997-2452-4426-9FD2-B414C63F7F1B}" type="slidenum">
              <a:rPr lang="en-GB" smtClean="0"/>
              <a:t>‹#›</a:t>
            </a:fld>
            <a:endParaRPr lang="en-GB"/>
          </a:p>
        </p:txBody>
      </p:sp>
    </p:spTree>
    <p:extLst>
      <p:ext uri="{BB962C8B-B14F-4D97-AF65-F5344CB8AC3E}">
        <p14:creationId xmlns:p14="http://schemas.microsoft.com/office/powerpoint/2010/main" val="3135221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my video on the LL1 parsing algorithm</a:t>
            </a:r>
          </a:p>
        </p:txBody>
      </p:sp>
      <p:sp>
        <p:nvSpPr>
          <p:cNvPr id="4" name="Slide Number Placeholder 3"/>
          <p:cNvSpPr>
            <a:spLocks noGrp="1"/>
          </p:cNvSpPr>
          <p:nvPr>
            <p:ph type="sldNum" sz="quarter" idx="5"/>
          </p:nvPr>
        </p:nvSpPr>
        <p:spPr/>
        <p:txBody>
          <a:bodyPr/>
          <a:lstStyle/>
          <a:p>
            <a:fld id="{A5624997-2452-4426-9FD2-B414C63F7F1B}" type="slidenum">
              <a:rPr lang="en-GB" smtClean="0"/>
              <a:t>1</a:t>
            </a:fld>
            <a:endParaRPr lang="en-GB"/>
          </a:p>
        </p:txBody>
      </p:sp>
    </p:spTree>
    <p:extLst>
      <p:ext uri="{BB962C8B-B14F-4D97-AF65-F5344CB8AC3E}">
        <p14:creationId xmlns:p14="http://schemas.microsoft.com/office/powerpoint/2010/main" val="1154661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algorithm is a parser</a:t>
            </a:r>
          </a:p>
          <a:p>
            <a:r>
              <a:rPr lang="en-GB" dirty="0"/>
              <a:t>That means it takes a grammar and input string of tokens, and returns whether or not that input can be generated from the grammar</a:t>
            </a:r>
          </a:p>
          <a:p>
            <a:r>
              <a:rPr lang="en-GB" dirty="0"/>
              <a:t>It is called LL1 because it scans the input from left to right to find the leftmost derivation with only one token of lookahead</a:t>
            </a:r>
          </a:p>
          <a:p>
            <a:r>
              <a:rPr lang="en-GB" dirty="0"/>
              <a:t>Because it uses only one lookahead token it can only do this for a subset of grammars, called LL1 grammars</a:t>
            </a:r>
          </a:p>
        </p:txBody>
      </p:sp>
      <p:sp>
        <p:nvSpPr>
          <p:cNvPr id="4" name="Slide Number Placeholder 3"/>
          <p:cNvSpPr>
            <a:spLocks noGrp="1"/>
          </p:cNvSpPr>
          <p:nvPr>
            <p:ph type="sldNum" sz="quarter" idx="5"/>
          </p:nvPr>
        </p:nvSpPr>
        <p:spPr/>
        <p:txBody>
          <a:bodyPr/>
          <a:lstStyle/>
          <a:p>
            <a:fld id="{A5624997-2452-4426-9FD2-B414C63F7F1B}" type="slidenum">
              <a:rPr lang="en-GB" smtClean="0"/>
              <a:t>2</a:t>
            </a:fld>
            <a:endParaRPr lang="en-GB"/>
          </a:p>
        </p:txBody>
      </p:sp>
    </p:spTree>
    <p:extLst>
      <p:ext uri="{BB962C8B-B14F-4D97-AF65-F5344CB8AC3E}">
        <p14:creationId xmlns:p14="http://schemas.microsoft.com/office/powerpoint/2010/main" val="1894729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algorithm uses an input buffer, stack, and parsing table</a:t>
            </a:r>
          </a:p>
          <a:p>
            <a:r>
              <a:rPr lang="en-GB" dirty="0"/>
              <a:t>This parsing table is precomputed by a different algorithm from the grammar</a:t>
            </a:r>
          </a:p>
          <a:p>
            <a:r>
              <a:rPr lang="en-GB" dirty="0"/>
              <a:t>This algorithm is explained in my written report and my implementation</a:t>
            </a:r>
          </a:p>
          <a:p>
            <a:r>
              <a:rPr lang="en-GB" dirty="0"/>
              <a:t>The parsing algorithm works as follows</a:t>
            </a:r>
          </a:p>
          <a:p>
            <a:r>
              <a:rPr lang="en-GB" dirty="0"/>
              <a:t>If the symbol on the stack and current input token are both the special end of string marker, normally denoted dollar, then the input is valid</a:t>
            </a:r>
          </a:p>
          <a:p>
            <a:r>
              <a:rPr lang="en-GB" dirty="0"/>
              <a:t>If they are otherwise the same, we pop X and advance along the input</a:t>
            </a:r>
          </a:p>
          <a:p>
            <a:r>
              <a:rPr lang="en-GB" dirty="0"/>
              <a:t>A special case of this is when X is the special empty nonterminal, where we do not advance along the input as we have correctly read an empty string</a:t>
            </a:r>
          </a:p>
          <a:p>
            <a:r>
              <a:rPr lang="en-GB" dirty="0"/>
              <a:t>If X is a nonterminal, it is replaced by the production in the parsing table at cell X, a</a:t>
            </a:r>
          </a:p>
          <a:p>
            <a:r>
              <a:rPr lang="en-GB" dirty="0"/>
              <a:t>The two cases where an invalid input is detected is if X is a terminal but different from a, or if the cell at X, a is empty</a:t>
            </a:r>
          </a:p>
          <a:p>
            <a:r>
              <a:rPr lang="en-GB" dirty="0"/>
              <a:t>Let’s look at some examples</a:t>
            </a:r>
          </a:p>
        </p:txBody>
      </p:sp>
      <p:sp>
        <p:nvSpPr>
          <p:cNvPr id="4" name="Slide Number Placeholder 3"/>
          <p:cNvSpPr>
            <a:spLocks noGrp="1"/>
          </p:cNvSpPr>
          <p:nvPr>
            <p:ph type="sldNum" sz="quarter" idx="5"/>
          </p:nvPr>
        </p:nvSpPr>
        <p:spPr/>
        <p:txBody>
          <a:bodyPr/>
          <a:lstStyle/>
          <a:p>
            <a:fld id="{A5624997-2452-4426-9FD2-B414C63F7F1B}" type="slidenum">
              <a:rPr lang="en-GB" smtClean="0"/>
              <a:t>3</a:t>
            </a:fld>
            <a:endParaRPr lang="en-GB"/>
          </a:p>
        </p:txBody>
      </p:sp>
    </p:spTree>
    <p:extLst>
      <p:ext uri="{BB962C8B-B14F-4D97-AF65-F5344CB8AC3E}">
        <p14:creationId xmlns:p14="http://schemas.microsoft.com/office/powerpoint/2010/main" val="2319254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 my implementation I have provided a grammar for basic arithmetic expressions</a:t>
            </a:r>
          </a:p>
          <a:p>
            <a:r>
              <a:rPr lang="en-GB" dirty="0"/>
              <a:t>[click]</a:t>
            </a:r>
          </a:p>
          <a:p>
            <a:r>
              <a:rPr lang="en-GB" dirty="0"/>
              <a:t>Running it on this valid input gives the following output</a:t>
            </a:r>
          </a:p>
          <a:p>
            <a:r>
              <a:rPr lang="en-GB" dirty="0"/>
              <a:t>[click]</a:t>
            </a:r>
          </a:p>
          <a:p>
            <a:r>
              <a:rPr lang="en-GB" dirty="0"/>
              <a:t>First the input is tokenised</a:t>
            </a:r>
          </a:p>
          <a:p>
            <a:r>
              <a:rPr lang="en-GB" dirty="0"/>
              <a:t>Notice how specific numbers are replaced by identifier tokens, as the parser does not care about what these values actually are</a:t>
            </a:r>
          </a:p>
          <a:p>
            <a:r>
              <a:rPr lang="en-GB" dirty="0"/>
              <a:t>Also see how the end of string token has been added to the end</a:t>
            </a:r>
          </a:p>
          <a:p>
            <a:r>
              <a:rPr lang="en-GB" dirty="0"/>
              <a:t>[click]</a:t>
            </a:r>
          </a:p>
          <a:p>
            <a:r>
              <a:rPr lang="en-GB" dirty="0"/>
              <a:t>We then see the state of the parser’s stack and input, as well as the actions it is taking</a:t>
            </a:r>
          </a:p>
          <a:p>
            <a:r>
              <a:rPr lang="en-GB" dirty="0"/>
              <a:t>See how </a:t>
            </a:r>
            <a:r>
              <a:rPr lang="en-GB" dirty="0" err="1"/>
              <a:t>nonterminals</a:t>
            </a:r>
            <a:r>
              <a:rPr lang="en-GB" dirty="0"/>
              <a:t> are replaced by productions from the parse table, and matching terminals are popped</a:t>
            </a:r>
          </a:p>
          <a:p>
            <a:r>
              <a:rPr lang="en-GB" dirty="0"/>
              <a:t>Eventually the input and stack both contain only the end of string marker, and the parser returns true</a:t>
            </a:r>
          </a:p>
        </p:txBody>
      </p:sp>
      <p:sp>
        <p:nvSpPr>
          <p:cNvPr id="4" name="Slide Number Placeholder 3"/>
          <p:cNvSpPr>
            <a:spLocks noGrp="1"/>
          </p:cNvSpPr>
          <p:nvPr>
            <p:ph type="sldNum" sz="quarter" idx="5"/>
          </p:nvPr>
        </p:nvSpPr>
        <p:spPr/>
        <p:txBody>
          <a:bodyPr/>
          <a:lstStyle/>
          <a:p>
            <a:fld id="{A5624997-2452-4426-9FD2-B414C63F7F1B}" type="slidenum">
              <a:rPr lang="en-GB" smtClean="0"/>
              <a:t>4</a:t>
            </a:fld>
            <a:endParaRPr lang="en-GB"/>
          </a:p>
        </p:txBody>
      </p:sp>
    </p:spTree>
    <p:extLst>
      <p:ext uri="{BB962C8B-B14F-4D97-AF65-F5344CB8AC3E}">
        <p14:creationId xmlns:p14="http://schemas.microsoft.com/office/powerpoint/2010/main" val="489863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 this invalid input, the parser correctly identifies that we are missing a closing bracket</a:t>
            </a:r>
          </a:p>
          <a:p>
            <a:r>
              <a:rPr lang="en-GB" dirty="0"/>
              <a:t>With little effort a helpful error message is provided</a:t>
            </a:r>
          </a:p>
        </p:txBody>
      </p:sp>
      <p:sp>
        <p:nvSpPr>
          <p:cNvPr id="4" name="Slide Number Placeholder 3"/>
          <p:cNvSpPr>
            <a:spLocks noGrp="1"/>
          </p:cNvSpPr>
          <p:nvPr>
            <p:ph type="sldNum" sz="quarter" idx="5"/>
          </p:nvPr>
        </p:nvSpPr>
        <p:spPr/>
        <p:txBody>
          <a:bodyPr/>
          <a:lstStyle/>
          <a:p>
            <a:fld id="{A5624997-2452-4426-9FD2-B414C63F7F1B}" type="slidenum">
              <a:rPr lang="en-GB" smtClean="0"/>
              <a:t>5</a:t>
            </a:fld>
            <a:endParaRPr lang="en-GB"/>
          </a:p>
        </p:txBody>
      </p:sp>
    </p:spTree>
    <p:extLst>
      <p:ext uri="{BB962C8B-B14F-4D97-AF65-F5344CB8AC3E}">
        <p14:creationId xmlns:p14="http://schemas.microsoft.com/office/powerpoint/2010/main" val="1907796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algorithm is important when a high performance parser is needed</a:t>
            </a:r>
          </a:p>
          <a:p>
            <a:r>
              <a:rPr lang="en-GB" dirty="0"/>
              <a:t>An example is syntax highlighting in an editor, where the language’s grammar can be simplified to LL1 because we only need to highlight it, and so this algorithm can be used to efficiently parse it</a:t>
            </a:r>
          </a:p>
          <a:p>
            <a:r>
              <a:rPr lang="en-GB" dirty="0"/>
              <a:t>Domain specific languages like SQL and JSON are also LL1</a:t>
            </a:r>
          </a:p>
          <a:p>
            <a:r>
              <a:rPr lang="en-GB" dirty="0"/>
              <a:t>Another advantage is that LL1 parsers can be verified to produce the correct result, which may be important in security focused fields</a:t>
            </a:r>
          </a:p>
          <a:p>
            <a:r>
              <a:rPr lang="en-GB" dirty="0"/>
              <a:t>As you can see, compared to the more complex parsers needed for languages like C++ and Python, LL1 has much lower time complexity</a:t>
            </a:r>
          </a:p>
        </p:txBody>
      </p:sp>
      <p:sp>
        <p:nvSpPr>
          <p:cNvPr id="4" name="Slide Number Placeholder 3"/>
          <p:cNvSpPr>
            <a:spLocks noGrp="1"/>
          </p:cNvSpPr>
          <p:nvPr>
            <p:ph type="sldNum" sz="quarter" idx="5"/>
          </p:nvPr>
        </p:nvSpPr>
        <p:spPr/>
        <p:txBody>
          <a:bodyPr/>
          <a:lstStyle/>
          <a:p>
            <a:fld id="{A5624997-2452-4426-9FD2-B414C63F7F1B}" type="slidenum">
              <a:rPr lang="en-GB" smtClean="0"/>
              <a:t>6</a:t>
            </a:fld>
            <a:endParaRPr lang="en-GB"/>
          </a:p>
        </p:txBody>
      </p:sp>
    </p:spTree>
    <p:extLst>
      <p:ext uri="{BB962C8B-B14F-4D97-AF65-F5344CB8AC3E}">
        <p14:creationId xmlns:p14="http://schemas.microsoft.com/office/powerpoint/2010/main" val="1902966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 implementation has three parts: a grammar definition, table generator, and the parser itself</a:t>
            </a:r>
          </a:p>
          <a:p>
            <a:r>
              <a:rPr lang="en-GB" dirty="0"/>
              <a:t>The provided grammar is one for arithmetic expressions and is taken from the dragon compiler book</a:t>
            </a:r>
          </a:p>
          <a:p>
            <a:r>
              <a:rPr lang="en-GB" dirty="0"/>
              <a:t>A source for this is at the end</a:t>
            </a:r>
          </a:p>
          <a:p>
            <a:r>
              <a:rPr lang="en-GB" dirty="0"/>
              <a:t>The definition requires </a:t>
            </a:r>
            <a:r>
              <a:rPr lang="en-GB" dirty="0" err="1"/>
              <a:t>enums</a:t>
            </a:r>
            <a:r>
              <a:rPr lang="en-GB" dirty="0"/>
              <a:t> for the possible terminals and </a:t>
            </a:r>
            <a:r>
              <a:rPr lang="en-GB" dirty="0" err="1"/>
              <a:t>nonterminals</a:t>
            </a:r>
            <a:r>
              <a:rPr lang="en-GB" dirty="0"/>
              <a:t>, and a vector of production rules written as shown</a:t>
            </a:r>
          </a:p>
          <a:p>
            <a:r>
              <a:rPr lang="en-GB" dirty="0"/>
              <a:t>Notice how the right hand side of the production is a vector to allow for multiple productions from the same nonterminal</a:t>
            </a:r>
          </a:p>
          <a:p>
            <a:r>
              <a:rPr lang="en-GB" dirty="0"/>
              <a:t>A table is then generated from this grammar and given to the parser</a:t>
            </a:r>
          </a:p>
        </p:txBody>
      </p:sp>
      <p:sp>
        <p:nvSpPr>
          <p:cNvPr id="4" name="Slide Number Placeholder 3"/>
          <p:cNvSpPr>
            <a:spLocks noGrp="1"/>
          </p:cNvSpPr>
          <p:nvPr>
            <p:ph type="sldNum" sz="quarter" idx="5"/>
          </p:nvPr>
        </p:nvSpPr>
        <p:spPr/>
        <p:txBody>
          <a:bodyPr/>
          <a:lstStyle/>
          <a:p>
            <a:fld id="{A5624997-2452-4426-9FD2-B414C63F7F1B}" type="slidenum">
              <a:rPr lang="en-GB" smtClean="0"/>
              <a:t>7</a:t>
            </a:fld>
            <a:endParaRPr lang="en-GB"/>
          </a:p>
        </p:txBody>
      </p:sp>
    </p:spTree>
    <p:extLst>
      <p:ext uri="{BB962C8B-B14F-4D97-AF65-F5344CB8AC3E}">
        <p14:creationId xmlns:p14="http://schemas.microsoft.com/office/powerpoint/2010/main" val="1937240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an abbreviated look at that parser</a:t>
            </a:r>
          </a:p>
          <a:p>
            <a:r>
              <a:rPr lang="en-GB" dirty="0"/>
              <a:t>It starts by initialising the stack with the start symbol on top and end of string marker on the bottom, and the input pointer to the start of the input</a:t>
            </a:r>
          </a:p>
          <a:p>
            <a:r>
              <a:rPr lang="en-GB" dirty="0"/>
              <a:t>We then repeat until the stack is empty</a:t>
            </a:r>
          </a:p>
          <a:p>
            <a:r>
              <a:rPr lang="en-GB" dirty="0"/>
              <a:t>If the </a:t>
            </a:r>
            <a:r>
              <a:rPr lang="en-GB" dirty="0" err="1"/>
              <a:t>sumbol</a:t>
            </a:r>
            <a:r>
              <a:rPr lang="en-GB" dirty="0"/>
              <a:t> on the top of the stack is a terminal, we compare it to the current input token</a:t>
            </a:r>
          </a:p>
          <a:p>
            <a:r>
              <a:rPr lang="en-GB" dirty="0"/>
              <a:t>If they are the same, the input contains the nonterminal we were expecting</a:t>
            </a:r>
          </a:p>
          <a:p>
            <a:r>
              <a:rPr lang="en-GB" dirty="0"/>
              <a:t>We pop from the stack and advance the input</a:t>
            </a:r>
          </a:p>
          <a:p>
            <a:r>
              <a:rPr lang="en-GB" dirty="0"/>
              <a:t>If we are expecting an empty terminal, we pop from the stack without advancing the input</a:t>
            </a:r>
          </a:p>
          <a:p>
            <a:r>
              <a:rPr lang="en-GB" dirty="0"/>
              <a:t>Otherwise, the input contains a terminal we were not expecting and so the parser returns invalid</a:t>
            </a:r>
          </a:p>
          <a:p>
            <a:r>
              <a:rPr lang="en-GB" dirty="0"/>
              <a:t>If the top symbol on the stack is a nonterminal, then we perform a lookup on the table</a:t>
            </a:r>
          </a:p>
          <a:p>
            <a:r>
              <a:rPr lang="en-GB" dirty="0"/>
              <a:t>If the cell contains a production, we replace the current top stack item with it</a:t>
            </a:r>
          </a:p>
          <a:p>
            <a:r>
              <a:rPr lang="en-GB" dirty="0"/>
              <a:t>Otherwise, we have an invalid input and the parser returns</a:t>
            </a:r>
          </a:p>
          <a:p>
            <a:r>
              <a:rPr lang="en-GB" dirty="0"/>
              <a:t>If we consume the whole input and stack, then the input was valid</a:t>
            </a:r>
          </a:p>
        </p:txBody>
      </p:sp>
      <p:sp>
        <p:nvSpPr>
          <p:cNvPr id="4" name="Slide Number Placeholder 3"/>
          <p:cNvSpPr>
            <a:spLocks noGrp="1"/>
          </p:cNvSpPr>
          <p:nvPr>
            <p:ph type="sldNum" sz="quarter" idx="5"/>
          </p:nvPr>
        </p:nvSpPr>
        <p:spPr/>
        <p:txBody>
          <a:bodyPr/>
          <a:lstStyle/>
          <a:p>
            <a:fld id="{A5624997-2452-4426-9FD2-B414C63F7F1B}" type="slidenum">
              <a:rPr lang="en-GB" smtClean="0"/>
              <a:t>8</a:t>
            </a:fld>
            <a:endParaRPr lang="en-GB"/>
          </a:p>
        </p:txBody>
      </p:sp>
    </p:spTree>
    <p:extLst>
      <p:ext uri="{BB962C8B-B14F-4D97-AF65-F5344CB8AC3E}">
        <p14:creationId xmlns:p14="http://schemas.microsoft.com/office/powerpoint/2010/main" val="3762898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001B0-542D-77A6-E1DE-4BF036958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4A10A-6BBA-FE62-DDE4-8E4BA06BB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A26CD-8811-1A38-A148-603E694259DB}"/>
              </a:ext>
            </a:extLst>
          </p:cNvPr>
          <p:cNvSpPr>
            <a:spLocks noGrp="1"/>
          </p:cNvSpPr>
          <p:nvPr>
            <p:ph type="body" idx="1"/>
          </p:nvPr>
        </p:nvSpPr>
        <p:spPr/>
        <p:txBody>
          <a:bodyPr/>
          <a:lstStyle/>
          <a:p>
            <a:r>
              <a:rPr lang="en-GB" dirty="0"/>
              <a:t>Here’s a reference to the dragon compiler book</a:t>
            </a:r>
          </a:p>
          <a:p>
            <a:r>
              <a:rPr lang="en-GB" dirty="0"/>
              <a:t>Thank you for watching</a:t>
            </a:r>
          </a:p>
        </p:txBody>
      </p:sp>
      <p:sp>
        <p:nvSpPr>
          <p:cNvPr id="4" name="Slide Number Placeholder 3">
            <a:extLst>
              <a:ext uri="{FF2B5EF4-FFF2-40B4-BE49-F238E27FC236}">
                <a16:creationId xmlns:a16="http://schemas.microsoft.com/office/drawing/2014/main" id="{FCA1AF77-47F7-EB7A-37E4-0159473BE1F0}"/>
              </a:ext>
            </a:extLst>
          </p:cNvPr>
          <p:cNvSpPr>
            <a:spLocks noGrp="1"/>
          </p:cNvSpPr>
          <p:nvPr>
            <p:ph type="sldNum" sz="quarter" idx="5"/>
          </p:nvPr>
        </p:nvSpPr>
        <p:spPr/>
        <p:txBody>
          <a:bodyPr/>
          <a:lstStyle/>
          <a:p>
            <a:fld id="{A5624997-2452-4426-9FD2-B414C63F7F1B}" type="slidenum">
              <a:rPr lang="en-GB" smtClean="0"/>
              <a:t>9</a:t>
            </a:fld>
            <a:endParaRPr lang="en-GB"/>
          </a:p>
        </p:txBody>
      </p:sp>
    </p:spTree>
    <p:extLst>
      <p:ext uri="{BB962C8B-B14F-4D97-AF65-F5344CB8AC3E}">
        <p14:creationId xmlns:p14="http://schemas.microsoft.com/office/powerpoint/2010/main" val="2497727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A1BBB-0485-A774-9C1F-1E8206995E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898F85A-0139-4201-E5C2-16424EE53C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44DF016-3986-267D-654E-82B6CA519ABF}"/>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5" name="Footer Placeholder 4">
            <a:extLst>
              <a:ext uri="{FF2B5EF4-FFF2-40B4-BE49-F238E27FC236}">
                <a16:creationId xmlns:a16="http://schemas.microsoft.com/office/drawing/2014/main" id="{D4E7C36B-1612-7BAF-E7A3-EC9DE0DF34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6A57B9-AD04-A7C0-CAB9-1193F1A449B6}"/>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340125492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69693-7F8D-1DBD-EEC0-69BA738E9C7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9C00E2-F0C8-C537-9787-D63BEF6222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813F36-4171-F013-7410-CF98AA15DB38}"/>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5" name="Footer Placeholder 4">
            <a:extLst>
              <a:ext uri="{FF2B5EF4-FFF2-40B4-BE49-F238E27FC236}">
                <a16:creationId xmlns:a16="http://schemas.microsoft.com/office/drawing/2014/main" id="{20D22E5D-6F27-D9B1-E6DB-24D248438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029295-A731-5EA4-DEDA-EC4987E88D40}"/>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255844586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DAFC-A32F-6E49-E17C-7EAD3E1426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7E506BC-FB51-F112-32FB-CC91FB042C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AA3F4B-2690-6366-9907-EC5615D2BDC6}"/>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5" name="Footer Placeholder 4">
            <a:extLst>
              <a:ext uri="{FF2B5EF4-FFF2-40B4-BE49-F238E27FC236}">
                <a16:creationId xmlns:a16="http://schemas.microsoft.com/office/drawing/2014/main" id="{2FC8D54F-3ECF-95E6-9D8C-1DC23128FF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668B52-BA16-84DC-4A3C-30258902C8E6}"/>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38134763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74F40-B51F-F590-8A16-4ACAF80A80B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990BDE-C107-32DB-71E3-ABC7CD9F4E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609C7D0-9E1A-2C70-D555-B78C8A7E5A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54DDEFF-A009-3F90-A855-24D9A74B2753}"/>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6" name="Footer Placeholder 5">
            <a:extLst>
              <a:ext uri="{FF2B5EF4-FFF2-40B4-BE49-F238E27FC236}">
                <a16:creationId xmlns:a16="http://schemas.microsoft.com/office/drawing/2014/main" id="{B50FCD70-16D7-EF74-C832-D910A1B84A5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3FDE5B-5FF2-945E-4030-04088C8D0295}"/>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133734990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AE33-4A0F-7B18-60F2-7344FCE0F2F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E53C33-AF60-6616-EE0D-017CAFB10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569ADB-3FFA-97FC-EB20-4EC8CCFAC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5B36EB5-2254-5C4F-D332-8BE5315C7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604A47-70C2-CEF4-E886-E85A6220B3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87DB1EA-AC55-8C41-988D-6C8C62B38BFA}"/>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8" name="Footer Placeholder 7">
            <a:extLst>
              <a:ext uri="{FF2B5EF4-FFF2-40B4-BE49-F238E27FC236}">
                <a16:creationId xmlns:a16="http://schemas.microsoft.com/office/drawing/2014/main" id="{BF417682-512A-B533-0B8C-ABEE6671551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AAC58F1-7DCD-B037-93D4-72E86054E988}"/>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392988101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6F14-B14B-CE23-3F49-E7E9EE067C8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C03F6CF-B919-1A71-32B5-3FED2DE2053F}"/>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4" name="Footer Placeholder 3">
            <a:extLst>
              <a:ext uri="{FF2B5EF4-FFF2-40B4-BE49-F238E27FC236}">
                <a16:creationId xmlns:a16="http://schemas.microsoft.com/office/drawing/2014/main" id="{1406BF8C-0CE0-D343-E1E8-BE180E3F129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BC9AB0-9A7B-550E-F399-CC34C7B55812}"/>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15978288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84213C-1C2F-F286-2100-CB895430BF68}"/>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3" name="Footer Placeholder 2">
            <a:extLst>
              <a:ext uri="{FF2B5EF4-FFF2-40B4-BE49-F238E27FC236}">
                <a16:creationId xmlns:a16="http://schemas.microsoft.com/office/drawing/2014/main" id="{62FF817A-E69A-5522-E854-4204ADE69C2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3FE5B65-2B1C-3AAF-6BB3-1C4D3802BB17}"/>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344323376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0921-8A11-8599-D1D9-7C8FA92E8E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2D5B99-C545-B711-F12B-51AB26EF0E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3BA7825-D021-A431-5B60-0B857CBF64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962827-9645-129F-04DA-5928ACA6F821}"/>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6" name="Footer Placeholder 5">
            <a:extLst>
              <a:ext uri="{FF2B5EF4-FFF2-40B4-BE49-F238E27FC236}">
                <a16:creationId xmlns:a16="http://schemas.microsoft.com/office/drawing/2014/main" id="{D354E906-1787-26F1-BDBB-8E74CFD356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92A84D-561A-75F8-F5DD-380C09F51184}"/>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45240939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3F02-CE2F-8B0B-58BF-0280D133B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1A1DE4B-9FF9-D652-D338-8B2E2DCB38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1572E5-8172-9835-3121-1CA7911831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7DCEE-8023-BF06-B3ED-AD951CB8A896}"/>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6" name="Footer Placeholder 5">
            <a:extLst>
              <a:ext uri="{FF2B5EF4-FFF2-40B4-BE49-F238E27FC236}">
                <a16:creationId xmlns:a16="http://schemas.microsoft.com/office/drawing/2014/main" id="{75E7FC2F-C97C-09B4-7302-249DDAB77C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4833BD-72EB-EE27-9CE4-99FA49C4AA81}"/>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84662800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A3D7-094A-5F86-61E1-D3FFBB5C98E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4FADEFD-9FEF-4A18-FDD2-192B5F7DCE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7220A9-B877-A63A-E8AA-0167EBECF916}"/>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5" name="Footer Placeholder 4">
            <a:extLst>
              <a:ext uri="{FF2B5EF4-FFF2-40B4-BE49-F238E27FC236}">
                <a16:creationId xmlns:a16="http://schemas.microsoft.com/office/drawing/2014/main" id="{3E7F8C7A-5B16-A42B-4F57-499FAE3183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ED6CAB-A31C-5011-335F-B49403E64A42}"/>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222705603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4C4A3E-A273-E772-A629-7624C36A30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06D8DF2-6600-FA67-7DFC-A440E71AFE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2C77BFA-CCDA-1B4E-AC6A-0D842EDE90C4}"/>
              </a:ext>
            </a:extLst>
          </p:cNvPr>
          <p:cNvSpPr>
            <a:spLocks noGrp="1"/>
          </p:cNvSpPr>
          <p:nvPr>
            <p:ph type="dt" sz="half" idx="10"/>
          </p:nvPr>
        </p:nvSpPr>
        <p:spPr/>
        <p:txBody>
          <a:bodyPr/>
          <a:lstStyle/>
          <a:p>
            <a:fld id="{F6EB47A1-698F-487C-BCFA-33F914F0FB2C}" type="datetimeFigureOut">
              <a:rPr lang="en-GB" smtClean="0"/>
              <a:t>19/11/2025</a:t>
            </a:fld>
            <a:endParaRPr lang="en-GB"/>
          </a:p>
        </p:txBody>
      </p:sp>
      <p:sp>
        <p:nvSpPr>
          <p:cNvPr id="5" name="Footer Placeholder 4">
            <a:extLst>
              <a:ext uri="{FF2B5EF4-FFF2-40B4-BE49-F238E27FC236}">
                <a16:creationId xmlns:a16="http://schemas.microsoft.com/office/drawing/2014/main" id="{0FD90C7F-3846-F4AB-CE1D-73BFADB039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F28D95-6AF6-2F2B-8CA8-7003AC57F9BF}"/>
              </a:ext>
            </a:extLst>
          </p:cNvPr>
          <p:cNvSpPr>
            <a:spLocks noGrp="1"/>
          </p:cNvSpPr>
          <p:nvPr>
            <p:ph type="sldNum" sz="quarter" idx="12"/>
          </p:nvPr>
        </p:nvSpPr>
        <p:spPr/>
        <p:txBody>
          <a:bodyPr/>
          <a:lstStyle/>
          <a:p>
            <a:fld id="{1FE7CFD9-675F-4445-BF18-446788D164B3}" type="slidenum">
              <a:rPr lang="en-GB" smtClean="0"/>
              <a:t>‹#›</a:t>
            </a:fld>
            <a:endParaRPr lang="en-GB"/>
          </a:p>
        </p:txBody>
      </p:sp>
    </p:spTree>
    <p:extLst>
      <p:ext uri="{BB962C8B-B14F-4D97-AF65-F5344CB8AC3E}">
        <p14:creationId xmlns:p14="http://schemas.microsoft.com/office/powerpoint/2010/main" val="41214860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F1948A-81FA-F279-3D91-A28CC608AB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21EE0C5-2B6D-1AA8-827D-26EEAB0BAA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2FB6C8-84C7-D9E9-B294-6114FABD32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EB47A1-698F-487C-BCFA-33F914F0FB2C}" type="datetimeFigureOut">
              <a:rPr lang="en-GB" smtClean="0"/>
              <a:t>19/11/2025</a:t>
            </a:fld>
            <a:endParaRPr lang="en-GB"/>
          </a:p>
        </p:txBody>
      </p:sp>
      <p:sp>
        <p:nvSpPr>
          <p:cNvPr id="5" name="Footer Placeholder 4">
            <a:extLst>
              <a:ext uri="{FF2B5EF4-FFF2-40B4-BE49-F238E27FC236}">
                <a16:creationId xmlns:a16="http://schemas.microsoft.com/office/drawing/2014/main" id="{A24F3F0C-3179-A9EA-2C8B-EBAFFA3886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CBE5DA2-0C84-0391-4F89-9F3741EC5E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E7CFD9-675F-4445-BF18-446788D164B3}" type="slidenum">
              <a:rPr lang="en-GB" smtClean="0"/>
              <a:t>‹#›</a:t>
            </a:fld>
            <a:endParaRPr lang="en-GB"/>
          </a:p>
        </p:txBody>
      </p:sp>
    </p:spTree>
    <p:extLst>
      <p:ext uri="{BB962C8B-B14F-4D97-AF65-F5344CB8AC3E}">
        <p14:creationId xmlns:p14="http://schemas.microsoft.com/office/powerpoint/2010/main" val="3291025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2" Type="http://schemas.microsoft.com/office/2007/relationships/media" Target="../media/media4.m4a"/><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2" Type="http://schemas.microsoft.com/office/2007/relationships/media" Target="../media/media5.m4a"/><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1.png"/><Relationship Id="rId4" Type="http://schemas.openxmlformats.org/officeDocument/2006/relationships/notesSlide" Target="../notesSlides/notesSlide7.xml"/><Relationship Id="rId9"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776D9-D780-4AF8-445A-BBD50A897F8C}"/>
              </a:ext>
            </a:extLst>
          </p:cNvPr>
          <p:cNvSpPr>
            <a:spLocks noGrp="1"/>
          </p:cNvSpPr>
          <p:nvPr>
            <p:ph type="ctrTitle"/>
          </p:nvPr>
        </p:nvSpPr>
        <p:spPr/>
        <p:txBody>
          <a:bodyPr/>
          <a:lstStyle/>
          <a:p>
            <a:r>
              <a:rPr lang="en-GB" dirty="0">
                <a:solidFill>
                  <a:srgbClr val="E6D4A3"/>
                </a:solidFill>
              </a:rPr>
              <a:t>The LL(1) Parsing Algorithm</a:t>
            </a:r>
          </a:p>
        </p:txBody>
      </p:sp>
      <p:sp>
        <p:nvSpPr>
          <p:cNvPr id="3" name="Subtitle 2">
            <a:extLst>
              <a:ext uri="{FF2B5EF4-FFF2-40B4-BE49-F238E27FC236}">
                <a16:creationId xmlns:a16="http://schemas.microsoft.com/office/drawing/2014/main" id="{7DA3BBD6-5ABE-1DEA-E272-511C1B27EC64}"/>
              </a:ext>
            </a:extLst>
          </p:cNvPr>
          <p:cNvSpPr>
            <a:spLocks noGrp="1"/>
          </p:cNvSpPr>
          <p:nvPr>
            <p:ph type="subTitle" idx="1"/>
          </p:nvPr>
        </p:nvSpPr>
        <p:spPr/>
        <p:txBody>
          <a:bodyPr/>
          <a:lstStyle/>
          <a:p>
            <a:r>
              <a:rPr lang="en-GB" dirty="0">
                <a:solidFill>
                  <a:srgbClr val="978771"/>
                </a:solidFill>
              </a:rPr>
              <a:t>ECM3428: Algorithms that changed the world</a:t>
            </a:r>
          </a:p>
        </p:txBody>
      </p:sp>
      <p:pic>
        <p:nvPicPr>
          <p:cNvPr id="19" name="Audio 18">
            <a:hlinkClick r:id="" action="ppaction://media"/>
            <a:extLst>
              <a:ext uri="{FF2B5EF4-FFF2-40B4-BE49-F238E27FC236}">
                <a16:creationId xmlns:a16="http://schemas.microsoft.com/office/drawing/2014/main" id="{313C0E6B-91ED-7AB1-B981-F8481543FA3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697722988"/>
      </p:ext>
    </p:extLst>
  </p:cSld>
  <p:clrMapOvr>
    <a:masterClrMapping/>
  </p:clrMapOvr>
  <mc:AlternateContent xmlns:mc="http://schemas.openxmlformats.org/markup-compatibility/2006">
    <mc:Choice xmlns:p14="http://schemas.microsoft.com/office/powerpoint/2010/main" Requires="p14">
      <p:transition p14:dur="250" advTm="4608">
        <p:fade/>
      </p:transition>
    </mc:Choice>
    <mc:Fallback>
      <p:transition advTm="460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59B5E-6779-C6F3-2289-F49350018626}"/>
              </a:ext>
            </a:extLst>
          </p:cNvPr>
          <p:cNvSpPr>
            <a:spLocks noGrp="1"/>
          </p:cNvSpPr>
          <p:nvPr>
            <p:ph type="title"/>
          </p:nvPr>
        </p:nvSpPr>
        <p:spPr/>
        <p:txBody>
          <a:bodyPr/>
          <a:lstStyle/>
          <a:p>
            <a:r>
              <a:rPr lang="en-GB" dirty="0">
                <a:solidFill>
                  <a:srgbClr val="E6D4A3"/>
                </a:solidFill>
              </a:rPr>
              <a:t>Background</a:t>
            </a:r>
          </a:p>
        </p:txBody>
      </p:sp>
      <p:sp>
        <p:nvSpPr>
          <p:cNvPr id="3" name="Content Placeholder 2">
            <a:extLst>
              <a:ext uri="{FF2B5EF4-FFF2-40B4-BE49-F238E27FC236}">
                <a16:creationId xmlns:a16="http://schemas.microsoft.com/office/drawing/2014/main" id="{8CAC817F-3C0F-3F5F-E856-8B6B567D020F}"/>
              </a:ext>
            </a:extLst>
          </p:cNvPr>
          <p:cNvSpPr>
            <a:spLocks noGrp="1"/>
          </p:cNvSpPr>
          <p:nvPr>
            <p:ph idx="1"/>
          </p:nvPr>
        </p:nvSpPr>
        <p:spPr/>
        <p:txBody>
          <a:bodyPr/>
          <a:lstStyle/>
          <a:p>
            <a:r>
              <a:rPr lang="en-GB" dirty="0">
                <a:solidFill>
                  <a:srgbClr val="E6D4A3"/>
                </a:solidFill>
              </a:rPr>
              <a:t>The </a:t>
            </a:r>
            <a:r>
              <a:rPr lang="en-GB" sz="2400" dirty="0">
                <a:solidFill>
                  <a:srgbClr val="F7B125"/>
                </a:solidFill>
                <a:latin typeface="JetBrainsMono NF" panose="02000009000000000000" pitchFamily="50" charset="0"/>
                <a:ea typeface="JetBrainsMono NF" panose="02000009000000000000" pitchFamily="50" charset="0"/>
                <a:cs typeface="JetBrainsMono NF" panose="02000009000000000000" pitchFamily="50" charset="0"/>
              </a:rPr>
              <a:t>LL(1)</a:t>
            </a:r>
            <a:r>
              <a:rPr lang="en-GB" dirty="0">
                <a:solidFill>
                  <a:srgbClr val="E6D4A3"/>
                </a:solidFill>
              </a:rPr>
              <a:t> algorithm is a parser.</a:t>
            </a:r>
          </a:p>
          <a:p>
            <a:r>
              <a:rPr lang="en-GB" dirty="0">
                <a:solidFill>
                  <a:srgbClr val="E6D4A3"/>
                </a:solidFill>
              </a:rPr>
              <a:t>Takes a </a:t>
            </a:r>
            <a:r>
              <a:rPr lang="en-GB" dirty="0">
                <a:solidFill>
                  <a:srgbClr val="F7B125"/>
                </a:solidFill>
              </a:rPr>
              <a:t>grammar</a:t>
            </a:r>
            <a:r>
              <a:rPr lang="en-GB" dirty="0">
                <a:solidFill>
                  <a:srgbClr val="E6D4A3"/>
                </a:solidFill>
              </a:rPr>
              <a:t> and </a:t>
            </a:r>
            <a:r>
              <a:rPr lang="en-GB" dirty="0">
                <a:solidFill>
                  <a:srgbClr val="F7B125"/>
                </a:solidFill>
              </a:rPr>
              <a:t>input string</a:t>
            </a:r>
            <a:r>
              <a:rPr lang="en-GB" dirty="0">
                <a:solidFill>
                  <a:srgbClr val="E6D4A3"/>
                </a:solidFill>
              </a:rPr>
              <a:t> of tokens and outputs whether the input can be generated from the grammar.</a:t>
            </a:r>
          </a:p>
          <a:p>
            <a:r>
              <a:rPr lang="en-GB" dirty="0">
                <a:solidFill>
                  <a:srgbClr val="E6D4A3"/>
                </a:solidFill>
              </a:rPr>
              <a:t>Scans from </a:t>
            </a:r>
            <a:r>
              <a:rPr lang="en-GB" dirty="0">
                <a:solidFill>
                  <a:srgbClr val="F7B125"/>
                </a:solidFill>
              </a:rPr>
              <a:t>left-to-right</a:t>
            </a:r>
            <a:r>
              <a:rPr lang="en-GB" dirty="0">
                <a:solidFill>
                  <a:srgbClr val="E6D4A3"/>
                </a:solidFill>
              </a:rPr>
              <a:t> to find the </a:t>
            </a:r>
            <a:r>
              <a:rPr lang="en-GB" dirty="0">
                <a:solidFill>
                  <a:srgbClr val="F7B125"/>
                </a:solidFill>
              </a:rPr>
              <a:t>leftmost derivation</a:t>
            </a:r>
            <a:r>
              <a:rPr lang="en-GB" dirty="0">
                <a:solidFill>
                  <a:srgbClr val="E6D4A3"/>
                </a:solidFill>
              </a:rPr>
              <a:t> with </a:t>
            </a:r>
            <a:r>
              <a:rPr lang="en-GB" dirty="0">
                <a:solidFill>
                  <a:srgbClr val="F7B125"/>
                </a:solidFill>
              </a:rPr>
              <a:t>1</a:t>
            </a:r>
            <a:r>
              <a:rPr lang="en-GB" dirty="0">
                <a:solidFill>
                  <a:srgbClr val="E6D4A3"/>
                </a:solidFill>
              </a:rPr>
              <a:t> token of lookahead.</a:t>
            </a:r>
            <a:endParaRPr lang="en-GB"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a:p>
            <a:r>
              <a:rPr lang="en-GB" dirty="0">
                <a:solidFill>
                  <a:srgbClr val="E6D4A3"/>
                </a:solidFill>
              </a:rPr>
              <a:t>Works on a subset of context-free</a:t>
            </a:r>
            <a:br>
              <a:rPr lang="en-GB" dirty="0">
                <a:solidFill>
                  <a:srgbClr val="E6D4A3"/>
                </a:solidFill>
              </a:rPr>
            </a:br>
            <a:r>
              <a:rPr lang="en-GB" dirty="0">
                <a:solidFill>
                  <a:srgbClr val="E6D4A3"/>
                </a:solidFill>
              </a:rPr>
              <a:t>grammars.</a:t>
            </a:r>
          </a:p>
        </p:txBody>
      </p:sp>
      <p:grpSp>
        <p:nvGrpSpPr>
          <p:cNvPr id="33" name="Group 32">
            <a:extLst>
              <a:ext uri="{FF2B5EF4-FFF2-40B4-BE49-F238E27FC236}">
                <a16:creationId xmlns:a16="http://schemas.microsoft.com/office/drawing/2014/main" id="{F33A5292-EF74-62FD-7F15-F14FB94E5121}"/>
              </a:ext>
            </a:extLst>
          </p:cNvPr>
          <p:cNvGrpSpPr/>
          <p:nvPr/>
        </p:nvGrpSpPr>
        <p:grpSpPr>
          <a:xfrm>
            <a:off x="6743411" y="4251181"/>
            <a:ext cx="4191289" cy="1925782"/>
            <a:chOff x="3447761" y="4386118"/>
            <a:chExt cx="4191289" cy="1925782"/>
          </a:xfrm>
        </p:grpSpPr>
        <p:sp>
          <p:nvSpPr>
            <p:cNvPr id="34" name="Rectangle 33">
              <a:extLst>
                <a:ext uri="{FF2B5EF4-FFF2-40B4-BE49-F238E27FC236}">
                  <a16:creationId xmlns:a16="http://schemas.microsoft.com/office/drawing/2014/main" id="{01E329FF-A29D-5009-3855-0EA04C8BB822}"/>
                </a:ext>
              </a:extLst>
            </p:cNvPr>
            <p:cNvSpPr/>
            <p:nvPr/>
          </p:nvSpPr>
          <p:spPr>
            <a:xfrm>
              <a:off x="3447761" y="5489863"/>
              <a:ext cx="1274619" cy="822037"/>
            </a:xfrm>
            <a:prstGeom prst="rect">
              <a:avLst/>
            </a:prstGeom>
            <a:solidFill>
              <a:srgbClr val="7195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Grammar</a:t>
              </a:r>
              <a:endParaRPr lang="en-GB"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sp>
          <p:nvSpPr>
            <p:cNvPr id="35" name="Rectangle 34">
              <a:extLst>
                <a:ext uri="{FF2B5EF4-FFF2-40B4-BE49-F238E27FC236}">
                  <a16:creationId xmlns:a16="http://schemas.microsoft.com/office/drawing/2014/main" id="{01B3195E-0ACE-9CB3-C21F-B3821A044B38}"/>
                </a:ext>
              </a:extLst>
            </p:cNvPr>
            <p:cNvSpPr/>
            <p:nvPr/>
          </p:nvSpPr>
          <p:spPr>
            <a:xfrm>
              <a:off x="3447761" y="4386118"/>
              <a:ext cx="1274619" cy="822037"/>
            </a:xfrm>
            <a:prstGeom prst="rect">
              <a:avLst/>
            </a:prstGeom>
            <a:solidFill>
              <a:srgbClr val="7195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Input</a:t>
              </a:r>
            </a:p>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Tokens</a:t>
              </a:r>
              <a:endParaRPr lang="en-GB"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sp>
          <p:nvSpPr>
            <p:cNvPr id="36" name="Rectangle 35">
              <a:extLst>
                <a:ext uri="{FF2B5EF4-FFF2-40B4-BE49-F238E27FC236}">
                  <a16:creationId xmlns:a16="http://schemas.microsoft.com/office/drawing/2014/main" id="{0B05BEAC-174D-25BE-5F75-C5B7E3381874}"/>
                </a:ext>
              </a:extLst>
            </p:cNvPr>
            <p:cNvSpPr/>
            <p:nvPr/>
          </p:nvSpPr>
          <p:spPr>
            <a:xfrm>
              <a:off x="5308599" y="4965121"/>
              <a:ext cx="822037" cy="822037"/>
            </a:xfrm>
            <a:prstGeom prst="rect">
              <a:avLst/>
            </a:prstGeom>
            <a:solidFill>
              <a:srgbClr val="F7B1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LL(1)</a:t>
              </a:r>
            </a:p>
          </p:txBody>
        </p:sp>
        <p:sp>
          <p:nvSpPr>
            <p:cNvPr id="37" name="Rectangle 36">
              <a:extLst>
                <a:ext uri="{FF2B5EF4-FFF2-40B4-BE49-F238E27FC236}">
                  <a16:creationId xmlns:a16="http://schemas.microsoft.com/office/drawing/2014/main" id="{7D019843-BBE1-9126-508B-1484C3C9A57F}"/>
                </a:ext>
              </a:extLst>
            </p:cNvPr>
            <p:cNvSpPr/>
            <p:nvPr/>
          </p:nvSpPr>
          <p:spPr>
            <a:xfrm>
              <a:off x="6629689" y="4965120"/>
              <a:ext cx="1009361" cy="822037"/>
            </a:xfrm>
            <a:prstGeom prst="rect">
              <a:avLst/>
            </a:prstGeom>
            <a:solidFill>
              <a:srgbClr val="AAB0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Valid?</a:t>
              </a:r>
              <a:endParaRPr lang="en-GB"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cxnSp>
          <p:nvCxnSpPr>
            <p:cNvPr id="38" name="Connector: Elbow 37">
              <a:extLst>
                <a:ext uri="{FF2B5EF4-FFF2-40B4-BE49-F238E27FC236}">
                  <a16:creationId xmlns:a16="http://schemas.microsoft.com/office/drawing/2014/main" id="{627635FA-DE6F-A17B-167E-2A39934EA268}"/>
                </a:ext>
              </a:extLst>
            </p:cNvPr>
            <p:cNvCxnSpPr>
              <a:cxnSpLocks/>
              <a:stCxn id="35" idx="3"/>
              <a:endCxn id="36" idx="1"/>
            </p:cNvCxnSpPr>
            <p:nvPr/>
          </p:nvCxnSpPr>
          <p:spPr>
            <a:xfrm>
              <a:off x="4722380" y="4797137"/>
              <a:ext cx="586219" cy="579003"/>
            </a:xfrm>
            <a:prstGeom prst="bentConnector3">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B1DE76AB-309A-C137-07B2-8BCD4B6B78E7}"/>
                </a:ext>
              </a:extLst>
            </p:cNvPr>
            <p:cNvCxnSpPr>
              <a:cxnSpLocks/>
              <a:stCxn id="34" idx="3"/>
              <a:endCxn id="36" idx="1"/>
            </p:cNvCxnSpPr>
            <p:nvPr/>
          </p:nvCxnSpPr>
          <p:spPr>
            <a:xfrm flipV="1">
              <a:off x="4722380" y="5376140"/>
              <a:ext cx="586219" cy="524742"/>
            </a:xfrm>
            <a:prstGeom prst="bentConnector3">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461EADB-66DD-9C90-A2C0-5DCAFAE48B6F}"/>
                </a:ext>
              </a:extLst>
            </p:cNvPr>
            <p:cNvCxnSpPr>
              <a:cxnSpLocks/>
              <a:stCxn id="36" idx="3"/>
              <a:endCxn id="37" idx="1"/>
            </p:cNvCxnSpPr>
            <p:nvPr/>
          </p:nvCxnSpPr>
          <p:spPr>
            <a:xfrm flipV="1">
              <a:off x="6130636" y="5376139"/>
              <a:ext cx="499053" cy="1"/>
            </a:xfrm>
            <a:prstGeom prst="straightConnector1">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grpSp>
      <p:pic>
        <p:nvPicPr>
          <p:cNvPr id="60" name="Audio 59">
            <a:hlinkClick r:id="" action="ppaction://media"/>
            <a:extLst>
              <a:ext uri="{FF2B5EF4-FFF2-40B4-BE49-F238E27FC236}">
                <a16:creationId xmlns:a16="http://schemas.microsoft.com/office/drawing/2014/main" id="{46EB3F87-A19C-C115-CCBD-9ACA0177B752}"/>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71985655"/>
      </p:ext>
    </p:extLst>
  </p:cSld>
  <p:clrMapOvr>
    <a:masterClrMapping/>
  </p:clrMapOvr>
  <mc:AlternateContent xmlns:mc="http://schemas.openxmlformats.org/markup-compatibility/2006">
    <mc:Choice xmlns:p14="http://schemas.microsoft.com/office/powerpoint/2010/main" Requires="p14">
      <p:transition p14:dur="250" advTm="24578">
        <p:fade/>
      </p:transition>
    </mc:Choice>
    <mc:Fallback>
      <p:transition advTm="2457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0"/>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a:extLst>
            <a:ext uri="{FF2B5EF4-FFF2-40B4-BE49-F238E27FC236}">
              <a16:creationId xmlns:a16="http://schemas.microsoft.com/office/drawing/2014/main" id="{2DA644FA-7620-D8A5-5192-5C3572969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5B66F-75E4-C761-C645-19142A7D3583}"/>
              </a:ext>
            </a:extLst>
          </p:cNvPr>
          <p:cNvSpPr>
            <a:spLocks noGrp="1"/>
          </p:cNvSpPr>
          <p:nvPr>
            <p:ph type="title"/>
          </p:nvPr>
        </p:nvSpPr>
        <p:spPr/>
        <p:txBody>
          <a:bodyPr/>
          <a:lstStyle/>
          <a:p>
            <a:r>
              <a:rPr lang="en-GB" dirty="0">
                <a:solidFill>
                  <a:srgbClr val="E6D4A3"/>
                </a:solidFill>
              </a:rPr>
              <a:t>Principles</a:t>
            </a:r>
          </a:p>
        </p:txBody>
      </p:sp>
      <p:sp>
        <p:nvSpPr>
          <p:cNvPr id="3" name="Content Placeholder 2">
            <a:extLst>
              <a:ext uri="{FF2B5EF4-FFF2-40B4-BE49-F238E27FC236}">
                <a16:creationId xmlns:a16="http://schemas.microsoft.com/office/drawing/2014/main" id="{5BE554DB-696B-EC70-453C-2E735282A7D1}"/>
              </a:ext>
            </a:extLst>
          </p:cNvPr>
          <p:cNvSpPr>
            <a:spLocks noGrp="1"/>
          </p:cNvSpPr>
          <p:nvPr>
            <p:ph idx="1"/>
          </p:nvPr>
        </p:nvSpPr>
        <p:spPr>
          <a:xfrm>
            <a:off x="838200" y="1825626"/>
            <a:ext cx="10515600" cy="1779084"/>
          </a:xfrm>
        </p:spPr>
        <p:txBody>
          <a:bodyPr/>
          <a:lstStyle/>
          <a:p>
            <a:r>
              <a:rPr lang="en-GB" dirty="0">
                <a:solidFill>
                  <a:srgbClr val="E6D4A3"/>
                </a:solidFill>
              </a:rPr>
              <a:t>Requires an </a:t>
            </a:r>
            <a:r>
              <a:rPr lang="en-GB" dirty="0">
                <a:solidFill>
                  <a:srgbClr val="F7B125"/>
                </a:solidFill>
              </a:rPr>
              <a:t>input buffer</a:t>
            </a:r>
            <a:r>
              <a:rPr lang="en-GB" dirty="0">
                <a:solidFill>
                  <a:srgbClr val="E6D4A3"/>
                </a:solidFill>
              </a:rPr>
              <a:t>, </a:t>
            </a:r>
            <a:r>
              <a:rPr lang="en-GB" dirty="0">
                <a:solidFill>
                  <a:srgbClr val="F7B125"/>
                </a:solidFill>
              </a:rPr>
              <a:t>stack</a:t>
            </a:r>
            <a:r>
              <a:rPr lang="en-GB" dirty="0">
                <a:solidFill>
                  <a:srgbClr val="E6D4A3"/>
                </a:solidFill>
              </a:rPr>
              <a:t>, and </a:t>
            </a:r>
            <a:r>
              <a:rPr lang="en-GB" dirty="0">
                <a:solidFill>
                  <a:srgbClr val="F7B125"/>
                </a:solidFill>
              </a:rPr>
              <a:t>parsing table</a:t>
            </a:r>
            <a:r>
              <a:rPr lang="en-GB" dirty="0">
                <a:solidFill>
                  <a:srgbClr val="E6D4A3"/>
                </a:solidFill>
              </a:rPr>
              <a:t>.</a:t>
            </a:r>
          </a:p>
          <a:p>
            <a:r>
              <a:rPr lang="en-GB" dirty="0">
                <a:solidFill>
                  <a:srgbClr val="E6D4A3"/>
                </a:solidFill>
              </a:rPr>
              <a:t>The parsing table is precomputed from the grammar.</a:t>
            </a:r>
          </a:p>
        </p:txBody>
      </p:sp>
      <p:sp>
        <p:nvSpPr>
          <p:cNvPr id="5" name="Rectangle 4">
            <a:extLst>
              <a:ext uri="{FF2B5EF4-FFF2-40B4-BE49-F238E27FC236}">
                <a16:creationId xmlns:a16="http://schemas.microsoft.com/office/drawing/2014/main" id="{3EB5BEA7-964C-1DA2-8A74-6D226AB06E77}"/>
              </a:ext>
            </a:extLst>
          </p:cNvPr>
          <p:cNvSpPr/>
          <p:nvPr/>
        </p:nvSpPr>
        <p:spPr>
          <a:xfrm>
            <a:off x="10409299" y="4731912"/>
            <a:ext cx="1274619" cy="822037"/>
          </a:xfrm>
          <a:prstGeom prst="rect">
            <a:avLst/>
          </a:prstGeom>
          <a:solidFill>
            <a:srgbClr val="7195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Input</a:t>
            </a:r>
          </a:p>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Tokens</a:t>
            </a:r>
            <a:endParaRPr lang="en-GB"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sp>
        <p:nvSpPr>
          <p:cNvPr id="6" name="Rectangle 5">
            <a:extLst>
              <a:ext uri="{FF2B5EF4-FFF2-40B4-BE49-F238E27FC236}">
                <a16:creationId xmlns:a16="http://schemas.microsoft.com/office/drawing/2014/main" id="{AF46C06F-034F-7D83-1BB9-5367F648E4B7}"/>
              </a:ext>
            </a:extLst>
          </p:cNvPr>
          <p:cNvSpPr/>
          <p:nvPr/>
        </p:nvSpPr>
        <p:spPr>
          <a:xfrm>
            <a:off x="7459725" y="5347931"/>
            <a:ext cx="822037" cy="822037"/>
          </a:xfrm>
          <a:prstGeom prst="rect">
            <a:avLst/>
          </a:prstGeom>
          <a:solidFill>
            <a:srgbClr val="F7B1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LL(1)</a:t>
            </a:r>
          </a:p>
        </p:txBody>
      </p:sp>
      <p:sp>
        <p:nvSpPr>
          <p:cNvPr id="7" name="Rectangle 6">
            <a:extLst>
              <a:ext uri="{FF2B5EF4-FFF2-40B4-BE49-F238E27FC236}">
                <a16:creationId xmlns:a16="http://schemas.microsoft.com/office/drawing/2014/main" id="{20622E67-E22E-82E9-834B-EF58E129C577}"/>
              </a:ext>
            </a:extLst>
          </p:cNvPr>
          <p:cNvSpPr/>
          <p:nvPr/>
        </p:nvSpPr>
        <p:spPr>
          <a:xfrm>
            <a:off x="8780815" y="5347930"/>
            <a:ext cx="1009361" cy="822037"/>
          </a:xfrm>
          <a:prstGeom prst="rect">
            <a:avLst/>
          </a:prstGeom>
          <a:solidFill>
            <a:srgbClr val="AAB0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Valid?</a:t>
            </a:r>
            <a:endParaRPr lang="en-GB"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cxnSp>
        <p:nvCxnSpPr>
          <p:cNvPr id="10" name="Straight Arrow Connector 9">
            <a:extLst>
              <a:ext uri="{FF2B5EF4-FFF2-40B4-BE49-F238E27FC236}">
                <a16:creationId xmlns:a16="http://schemas.microsoft.com/office/drawing/2014/main" id="{40F0C368-8F45-70D4-E270-3360D7F359AF}"/>
              </a:ext>
            </a:extLst>
          </p:cNvPr>
          <p:cNvCxnSpPr>
            <a:cxnSpLocks/>
            <a:stCxn id="6" idx="3"/>
            <a:endCxn id="7" idx="1"/>
          </p:cNvCxnSpPr>
          <p:nvPr/>
        </p:nvCxnSpPr>
        <p:spPr>
          <a:xfrm flipV="1">
            <a:off x="8281762" y="5758949"/>
            <a:ext cx="499053" cy="1"/>
          </a:xfrm>
          <a:prstGeom prst="straightConnector1">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9D8F2310-16D4-6BB3-6329-7F6544B3BE0E}"/>
              </a:ext>
            </a:extLst>
          </p:cNvPr>
          <p:cNvSpPr/>
          <p:nvPr/>
        </p:nvSpPr>
        <p:spPr>
          <a:xfrm>
            <a:off x="8247123" y="4223752"/>
            <a:ext cx="1704975" cy="373493"/>
          </a:xfrm>
          <a:prstGeom prst="rect">
            <a:avLst/>
          </a:prstGeom>
          <a:solidFill>
            <a:srgbClr val="7F7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Input Buffer</a:t>
            </a:r>
          </a:p>
        </p:txBody>
      </p:sp>
      <p:sp>
        <p:nvSpPr>
          <p:cNvPr id="13" name="Rectangle 12">
            <a:extLst>
              <a:ext uri="{FF2B5EF4-FFF2-40B4-BE49-F238E27FC236}">
                <a16:creationId xmlns:a16="http://schemas.microsoft.com/office/drawing/2014/main" id="{E139EE04-C0FE-37DE-464A-9288B122D96A}"/>
              </a:ext>
            </a:extLst>
          </p:cNvPr>
          <p:cNvSpPr/>
          <p:nvPr/>
        </p:nvSpPr>
        <p:spPr>
          <a:xfrm>
            <a:off x="8247124" y="4726395"/>
            <a:ext cx="1704975" cy="373493"/>
          </a:xfrm>
          <a:prstGeom prst="rect">
            <a:avLst/>
          </a:prstGeom>
          <a:solidFill>
            <a:srgbClr val="7F7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Stack</a:t>
            </a:r>
          </a:p>
        </p:txBody>
      </p:sp>
      <p:sp>
        <p:nvSpPr>
          <p:cNvPr id="14" name="Rectangle 13">
            <a:extLst>
              <a:ext uri="{FF2B5EF4-FFF2-40B4-BE49-F238E27FC236}">
                <a16:creationId xmlns:a16="http://schemas.microsoft.com/office/drawing/2014/main" id="{02D14CFA-6272-725B-B7B1-E00FDCD159A9}"/>
              </a:ext>
            </a:extLst>
          </p:cNvPr>
          <p:cNvSpPr/>
          <p:nvPr/>
        </p:nvSpPr>
        <p:spPr>
          <a:xfrm>
            <a:off x="8247126" y="3721109"/>
            <a:ext cx="1704975" cy="373493"/>
          </a:xfrm>
          <a:prstGeom prst="rect">
            <a:avLst/>
          </a:prstGeom>
          <a:solidFill>
            <a:srgbClr val="7F7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Parse Table</a:t>
            </a:r>
          </a:p>
        </p:txBody>
      </p:sp>
      <p:sp>
        <p:nvSpPr>
          <p:cNvPr id="38" name="Content Placeholder 2">
            <a:extLst>
              <a:ext uri="{FF2B5EF4-FFF2-40B4-BE49-F238E27FC236}">
                <a16:creationId xmlns:a16="http://schemas.microsoft.com/office/drawing/2014/main" id="{5EBE5FDB-90EB-DD4A-C1A9-C8700F049C03}"/>
              </a:ext>
            </a:extLst>
          </p:cNvPr>
          <p:cNvSpPr txBox="1">
            <a:spLocks/>
          </p:cNvSpPr>
          <p:nvPr/>
        </p:nvSpPr>
        <p:spPr>
          <a:xfrm>
            <a:off x="838199" y="2847974"/>
            <a:ext cx="6506441" cy="38681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E6D4A3"/>
                </a:solidFill>
              </a:rPr>
              <a:t>Let </a:t>
            </a:r>
            <a:r>
              <a:rPr lang="en-GB" sz="24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X</a:t>
            </a:r>
            <a:r>
              <a:rPr lang="en-GB" dirty="0">
                <a:solidFill>
                  <a:srgbClr val="E6D4A3"/>
                </a:solidFill>
              </a:rPr>
              <a:t> be the symbol on the top of the stack, and </a:t>
            </a:r>
            <a:r>
              <a:rPr lang="en-GB" sz="2400" i="1"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a:t>
            </a:r>
            <a:r>
              <a:rPr lang="en-GB" dirty="0">
                <a:solidFill>
                  <a:srgbClr val="E6D4A3"/>
                </a:solidFill>
              </a:rPr>
              <a:t> the current input token:</a:t>
            </a:r>
          </a:p>
          <a:p>
            <a:pPr lvl="1"/>
            <a:r>
              <a:rPr lang="en-GB" dirty="0">
                <a:solidFill>
                  <a:srgbClr val="E6D4A3"/>
                </a:solidFill>
              </a:rPr>
              <a:t>If </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X =</a:t>
            </a:r>
            <a:r>
              <a:rPr lang="en-GB" sz="20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r>
              <a:rPr lang="en-GB" sz="2000" i="1"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 = </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t>
            </a:r>
            <a:r>
              <a:rPr lang="en-GB" dirty="0">
                <a:solidFill>
                  <a:srgbClr val="E6D4A3"/>
                </a:solidFill>
              </a:rPr>
              <a:t>, the input is </a:t>
            </a:r>
            <a:r>
              <a:rPr lang="en-GB" dirty="0">
                <a:solidFill>
                  <a:srgbClr val="F7B125"/>
                </a:solidFill>
              </a:rPr>
              <a:t>valid</a:t>
            </a:r>
            <a:r>
              <a:rPr lang="en-GB" dirty="0">
                <a:solidFill>
                  <a:srgbClr val="E6D4A3"/>
                </a:solidFill>
              </a:rPr>
              <a:t>.</a:t>
            </a:r>
          </a:p>
          <a:p>
            <a:pPr lvl="1"/>
            <a:r>
              <a:rPr lang="en-GB" dirty="0">
                <a:solidFill>
                  <a:srgbClr val="E6D4A3"/>
                </a:solidFill>
              </a:rPr>
              <a:t>If </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X = </a:t>
            </a:r>
            <a:r>
              <a:rPr lang="en-GB" sz="2000" i="1"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a:t>
            </a:r>
            <a:r>
              <a:rPr lang="en-GB" dirty="0">
                <a:solidFill>
                  <a:srgbClr val="E6D4A3"/>
                </a:solidFill>
              </a:rPr>
              <a:t>, pop </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X</a:t>
            </a:r>
            <a:r>
              <a:rPr lang="en-GB" dirty="0">
                <a:solidFill>
                  <a:srgbClr val="E6D4A3"/>
                </a:solidFill>
              </a:rPr>
              <a:t> and advance to the next input token.</a:t>
            </a:r>
          </a:p>
          <a:p>
            <a:pPr lvl="1"/>
            <a:r>
              <a:rPr lang="en-GB" dirty="0">
                <a:solidFill>
                  <a:srgbClr val="E6D4A3"/>
                </a:solidFill>
              </a:rPr>
              <a:t>If </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X</a:t>
            </a:r>
            <a:r>
              <a:rPr lang="en-GB" dirty="0">
                <a:solidFill>
                  <a:srgbClr val="E6D4A3"/>
                </a:solidFill>
              </a:rPr>
              <a:t> is a </a:t>
            </a:r>
            <a:r>
              <a:rPr lang="en-GB" dirty="0">
                <a:solidFill>
                  <a:srgbClr val="F7B125"/>
                </a:solidFill>
              </a:rPr>
              <a:t>nonterminal</a:t>
            </a:r>
            <a:r>
              <a:rPr lang="en-GB" dirty="0">
                <a:solidFill>
                  <a:srgbClr val="E6D4A3"/>
                </a:solidFill>
              </a:rPr>
              <a:t>, pop  </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X</a:t>
            </a:r>
            <a:r>
              <a:rPr lang="en-GB" dirty="0">
                <a:solidFill>
                  <a:srgbClr val="E6D4A3"/>
                </a:solidFill>
              </a:rPr>
              <a:t> and </a:t>
            </a:r>
            <a:br>
              <a:rPr lang="en-GB" dirty="0">
                <a:solidFill>
                  <a:srgbClr val="E6D4A3"/>
                </a:solidFill>
              </a:rPr>
            </a:br>
            <a:r>
              <a:rPr lang="en-GB" dirty="0">
                <a:solidFill>
                  <a:srgbClr val="E6D4A3"/>
                </a:solidFill>
              </a:rPr>
              <a:t>push </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Table[X, </a:t>
            </a:r>
            <a:r>
              <a:rPr lang="en-GB" sz="2000" i="1"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a:t>
            </a:r>
            <a:r>
              <a:rPr lang="en-GB" sz="20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t>
            </a:r>
            <a:r>
              <a:rPr lang="en-GB" dirty="0">
                <a:solidFill>
                  <a:srgbClr val="E6D4A3"/>
                </a:solidFill>
              </a:rPr>
              <a:t> to the stack.</a:t>
            </a:r>
          </a:p>
          <a:p>
            <a:r>
              <a:rPr lang="en-GB" dirty="0">
                <a:solidFill>
                  <a:srgbClr val="E6D4A3"/>
                </a:solidFill>
              </a:rPr>
              <a:t>Identify a </a:t>
            </a:r>
            <a:r>
              <a:rPr lang="en-GB" dirty="0">
                <a:solidFill>
                  <a:srgbClr val="F7B125"/>
                </a:solidFill>
              </a:rPr>
              <a:t>syntax error </a:t>
            </a:r>
            <a:r>
              <a:rPr lang="en-GB" dirty="0">
                <a:solidFill>
                  <a:srgbClr val="E6D4A3"/>
                </a:solidFill>
              </a:rPr>
              <a:t>if </a:t>
            </a:r>
            <a:r>
              <a:rPr lang="en-GB" sz="24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Table[X, </a:t>
            </a:r>
            <a:r>
              <a:rPr lang="en-GB" sz="2400" i="1"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a:t>
            </a:r>
            <a:r>
              <a:rPr lang="en-GB" sz="24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a:t>
            </a:r>
            <a:r>
              <a:rPr lang="en-GB" sz="2400" dirty="0">
                <a:solidFill>
                  <a:srgbClr val="E6D4A3"/>
                </a:solidFill>
              </a:rPr>
              <a:t> is </a:t>
            </a:r>
            <a:r>
              <a:rPr lang="en-GB" dirty="0">
                <a:solidFill>
                  <a:srgbClr val="E6D4A3"/>
                </a:solidFill>
              </a:rPr>
              <a:t>empty. </a:t>
            </a:r>
          </a:p>
          <a:p>
            <a:pPr lvl="1"/>
            <a:endParaRPr lang="en-GB" dirty="0">
              <a:solidFill>
                <a:srgbClr val="E6D4A3"/>
              </a:solidFill>
            </a:endParaRPr>
          </a:p>
          <a:p>
            <a:endParaRPr lang="en-GB"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sp>
        <p:nvSpPr>
          <p:cNvPr id="40" name="Rectangle 39">
            <a:extLst>
              <a:ext uri="{FF2B5EF4-FFF2-40B4-BE49-F238E27FC236}">
                <a16:creationId xmlns:a16="http://schemas.microsoft.com/office/drawing/2014/main" id="{86523F0D-AE29-2D0D-AA44-33025758C006}"/>
              </a:ext>
            </a:extLst>
          </p:cNvPr>
          <p:cNvSpPr/>
          <p:nvPr/>
        </p:nvSpPr>
        <p:spPr>
          <a:xfrm>
            <a:off x="10409299" y="1575993"/>
            <a:ext cx="1274619" cy="822037"/>
          </a:xfrm>
          <a:prstGeom prst="rect">
            <a:avLst/>
          </a:prstGeom>
          <a:solidFill>
            <a:srgbClr val="7195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Grammar</a:t>
            </a:r>
            <a:endParaRPr lang="en-GB"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sp>
        <p:nvSpPr>
          <p:cNvPr id="42" name="Rectangle 41">
            <a:extLst>
              <a:ext uri="{FF2B5EF4-FFF2-40B4-BE49-F238E27FC236}">
                <a16:creationId xmlns:a16="http://schemas.microsoft.com/office/drawing/2014/main" id="{A4E9047E-F7AB-4A78-1F78-5EBD60A368E2}"/>
              </a:ext>
            </a:extLst>
          </p:cNvPr>
          <p:cNvSpPr/>
          <p:nvPr/>
        </p:nvSpPr>
        <p:spPr>
          <a:xfrm>
            <a:off x="10409300" y="2761352"/>
            <a:ext cx="1274619" cy="822037"/>
          </a:xfrm>
          <a:prstGeom prst="rect">
            <a:avLst/>
          </a:prstGeom>
          <a:solidFill>
            <a:srgbClr val="C770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Table</a:t>
            </a:r>
          </a:p>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Gen.</a:t>
            </a:r>
          </a:p>
        </p:txBody>
      </p:sp>
      <p:cxnSp>
        <p:nvCxnSpPr>
          <p:cNvPr id="44" name="Straight Arrow Connector 43">
            <a:extLst>
              <a:ext uri="{FF2B5EF4-FFF2-40B4-BE49-F238E27FC236}">
                <a16:creationId xmlns:a16="http://schemas.microsoft.com/office/drawing/2014/main" id="{D4D6CF4A-7320-0A2F-7DA8-D3C738AFEE6C}"/>
              </a:ext>
            </a:extLst>
          </p:cNvPr>
          <p:cNvCxnSpPr>
            <a:stCxn id="40" idx="2"/>
            <a:endCxn id="42" idx="0"/>
          </p:cNvCxnSpPr>
          <p:nvPr/>
        </p:nvCxnSpPr>
        <p:spPr>
          <a:xfrm>
            <a:off x="11046609" y="2398030"/>
            <a:ext cx="1" cy="363322"/>
          </a:xfrm>
          <a:prstGeom prst="straightConnector1">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2CACBCFC-1605-A6F2-2069-B1B4CA2A7DA7}"/>
              </a:ext>
            </a:extLst>
          </p:cNvPr>
          <p:cNvCxnSpPr>
            <a:cxnSpLocks/>
          </p:cNvCxnSpPr>
          <p:nvPr/>
        </p:nvCxnSpPr>
        <p:spPr>
          <a:xfrm rot="5400000">
            <a:off x="10337120" y="3226247"/>
            <a:ext cx="324467" cy="1094509"/>
          </a:xfrm>
          <a:prstGeom prst="bentConnector2">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F959BCA0-7DEC-6977-8852-FC9EE55E8E9C}"/>
              </a:ext>
            </a:extLst>
          </p:cNvPr>
          <p:cNvCxnSpPr>
            <a:stCxn id="5" idx="0"/>
            <a:endCxn id="11" idx="3"/>
          </p:cNvCxnSpPr>
          <p:nvPr/>
        </p:nvCxnSpPr>
        <p:spPr>
          <a:xfrm rot="16200000" flipV="1">
            <a:off x="10338648" y="4023950"/>
            <a:ext cx="321413" cy="1094511"/>
          </a:xfrm>
          <a:prstGeom prst="bentConnector2">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71435911-9B30-24D8-728F-5E92DAA487D4}"/>
              </a:ext>
            </a:extLst>
          </p:cNvPr>
          <p:cNvCxnSpPr>
            <a:stCxn id="14" idx="1"/>
            <a:endCxn id="6" idx="0"/>
          </p:cNvCxnSpPr>
          <p:nvPr/>
        </p:nvCxnSpPr>
        <p:spPr>
          <a:xfrm rot="10800000" flipV="1">
            <a:off x="7870744" y="3907855"/>
            <a:ext cx="376382" cy="1440075"/>
          </a:xfrm>
          <a:prstGeom prst="bentConnector2">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BAE3FA85-C0E2-B9CB-6F74-7DD9EBD714F5}"/>
              </a:ext>
            </a:extLst>
          </p:cNvPr>
          <p:cNvCxnSpPr>
            <a:stCxn id="11" idx="1"/>
            <a:endCxn id="6" idx="0"/>
          </p:cNvCxnSpPr>
          <p:nvPr/>
        </p:nvCxnSpPr>
        <p:spPr>
          <a:xfrm rot="10800000" flipV="1">
            <a:off x="7870745" y="4410499"/>
            <a:ext cx="376379" cy="937432"/>
          </a:xfrm>
          <a:prstGeom prst="bentConnector2">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2C0ECC78-4DB2-4182-AEC0-C227CAF4DA80}"/>
              </a:ext>
            </a:extLst>
          </p:cNvPr>
          <p:cNvCxnSpPr>
            <a:stCxn id="13" idx="1"/>
            <a:endCxn id="6" idx="0"/>
          </p:cNvCxnSpPr>
          <p:nvPr/>
        </p:nvCxnSpPr>
        <p:spPr>
          <a:xfrm rot="10800000" flipV="1">
            <a:off x="7870744" y="4913141"/>
            <a:ext cx="376380" cy="434789"/>
          </a:xfrm>
          <a:prstGeom prst="bentConnector2">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312EF71E-FFAA-377D-0217-4DDE9EA8888C}"/>
              </a:ext>
            </a:extLst>
          </p:cNvPr>
          <p:cNvCxnSpPr>
            <a:stCxn id="6" idx="0"/>
            <a:endCxn id="13" idx="1"/>
          </p:cNvCxnSpPr>
          <p:nvPr/>
        </p:nvCxnSpPr>
        <p:spPr>
          <a:xfrm rot="5400000" flipH="1" flipV="1">
            <a:off x="7841540" y="4942347"/>
            <a:ext cx="434789" cy="376380"/>
          </a:xfrm>
          <a:prstGeom prst="bentConnector2">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pic>
        <p:nvPicPr>
          <p:cNvPr id="83" name="Audio 82">
            <a:hlinkClick r:id="" action="ppaction://media"/>
            <a:extLst>
              <a:ext uri="{FF2B5EF4-FFF2-40B4-BE49-F238E27FC236}">
                <a16:creationId xmlns:a16="http://schemas.microsoft.com/office/drawing/2014/main" id="{C7091907-2E1E-35B4-CF9D-24CB24AE381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40042521"/>
      </p:ext>
    </p:extLst>
  </p:cSld>
  <p:clrMapOvr>
    <a:masterClrMapping/>
  </p:clrMapOvr>
  <mc:AlternateContent xmlns:mc="http://schemas.openxmlformats.org/markup-compatibility/2006">
    <mc:Choice xmlns:p14="http://schemas.microsoft.com/office/powerpoint/2010/main" Requires="p14">
      <p:transition p14:dur="250" advTm="58287">
        <p:fade/>
      </p:transition>
    </mc:Choice>
    <mc:Fallback>
      <p:transition advTm="5828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a:extLst>
            <a:ext uri="{FF2B5EF4-FFF2-40B4-BE49-F238E27FC236}">
              <a16:creationId xmlns:a16="http://schemas.microsoft.com/office/drawing/2014/main" id="{62DDD378-911B-0F80-2DE2-68EE77B9A4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933C2D-B3C7-70CF-26FD-058D99DD8370}"/>
              </a:ext>
            </a:extLst>
          </p:cNvPr>
          <p:cNvSpPr>
            <a:spLocks noGrp="1"/>
          </p:cNvSpPr>
          <p:nvPr>
            <p:ph idx="1"/>
          </p:nvPr>
        </p:nvSpPr>
        <p:spPr>
          <a:xfrm>
            <a:off x="533400" y="1385887"/>
            <a:ext cx="10515600" cy="4086225"/>
          </a:xfrm>
        </p:spPr>
        <p:txBody>
          <a:bodyPr>
            <a:noAutofit/>
          </a:bodyPr>
          <a:lstStyle/>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Tokenised:</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‘1+(6+7)' =&gt; [id, +, (, id, +, id, ), $]</a:t>
            </a:r>
          </a:p>
          <a:p>
            <a:pPr marL="0" indent="0">
              <a:buNone/>
            </a:pPr>
            <a:endPar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stack                | input                | action</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$E                   |          id+(</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id+id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E -&gt; TE'</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$E'T                 |          id+(</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id+id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T -&gt; FT'</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$E'T'F               |          id+(</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id+id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F -&gt; id</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E'T'id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id+(</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id+id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'id'</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$E'T'                |            +(</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id+id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T' -&gt; </a:t>
            </a: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ε</a:t>
            </a:r>
            <a:endPar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endPar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$ε                   |                    $ | 'ε'</a:t>
            </a:r>
          </a:p>
          <a:p>
            <a:pPr marL="0" indent="0">
              <a:buNone/>
            </a:pP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                    $ | '$'</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Valid input: </a:t>
            </a:r>
            <a:r>
              <a:rPr lang="en-GB" sz="1400" dirty="0">
                <a:solidFill>
                  <a:srgbClr val="AAB01E"/>
                </a:solidFill>
                <a:latin typeface="JetBrainsMono NF" panose="02000009000000000000" pitchFamily="50" charset="0"/>
                <a:ea typeface="JetBrainsMono NF" panose="02000009000000000000" pitchFamily="50" charset="0"/>
                <a:cs typeface="JetBrainsMono NF" panose="02000009000000000000" pitchFamily="50" charset="0"/>
              </a:rPr>
              <a:t>true</a:t>
            </a:r>
          </a:p>
        </p:txBody>
      </p:sp>
      <p:sp>
        <p:nvSpPr>
          <p:cNvPr id="6" name="Content Placeholder 2">
            <a:extLst>
              <a:ext uri="{FF2B5EF4-FFF2-40B4-BE49-F238E27FC236}">
                <a16:creationId xmlns:a16="http://schemas.microsoft.com/office/drawing/2014/main" id="{07B0B40E-827F-E7F3-F277-614C313737BE}"/>
              </a:ext>
            </a:extLst>
          </p:cNvPr>
          <p:cNvSpPr txBox="1">
            <a:spLocks/>
          </p:cNvSpPr>
          <p:nvPr/>
        </p:nvSpPr>
        <p:spPr>
          <a:xfrm>
            <a:off x="533400" y="781049"/>
            <a:ext cx="10515600" cy="3429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&gt;</a:t>
            </a:r>
            <a:r>
              <a:rPr lang="en-GB" sz="1400" dirty="0">
                <a:solidFill>
                  <a:srgbClr val="F7B125"/>
                </a:solidFill>
                <a:latin typeface="JetBrainsMono NF" panose="02000009000000000000" pitchFamily="50" charset="0"/>
                <a:ea typeface="JetBrainsMono NF" panose="02000009000000000000" pitchFamily="50" charset="0"/>
                <a:cs typeface="JetBrainsMono NF" panose="02000009000000000000" pitchFamily="50" charset="0"/>
              </a:rPr>
              <a:t> cargo run "1+(6+7)"</a:t>
            </a:r>
          </a:p>
        </p:txBody>
      </p:sp>
      <p:sp>
        <p:nvSpPr>
          <p:cNvPr id="2" name="Rectangle 1">
            <a:extLst>
              <a:ext uri="{FF2B5EF4-FFF2-40B4-BE49-F238E27FC236}">
                <a16:creationId xmlns:a16="http://schemas.microsoft.com/office/drawing/2014/main" id="{A0A310AF-BF14-FC92-B891-CA6BAA092BF6}"/>
              </a:ext>
            </a:extLst>
          </p:cNvPr>
          <p:cNvSpPr/>
          <p:nvPr/>
        </p:nvSpPr>
        <p:spPr>
          <a:xfrm>
            <a:off x="695325" y="1182291"/>
            <a:ext cx="5562600" cy="933450"/>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4AE6C8B-E8AC-350F-6D34-E1D1BE508378}"/>
              </a:ext>
            </a:extLst>
          </p:cNvPr>
          <p:cNvSpPr/>
          <p:nvPr/>
        </p:nvSpPr>
        <p:spPr>
          <a:xfrm>
            <a:off x="533400" y="1385888"/>
            <a:ext cx="6067424" cy="642938"/>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C1BFA10-5019-C6D6-522F-9494DDAD8077}"/>
              </a:ext>
            </a:extLst>
          </p:cNvPr>
          <p:cNvSpPr/>
          <p:nvPr/>
        </p:nvSpPr>
        <p:spPr>
          <a:xfrm>
            <a:off x="600075" y="2202655"/>
            <a:ext cx="6067424" cy="3531394"/>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Audio 21">
            <a:hlinkClick r:id="" action="ppaction://media"/>
            <a:extLst>
              <a:ext uri="{FF2B5EF4-FFF2-40B4-BE49-F238E27FC236}">
                <a16:creationId xmlns:a16="http://schemas.microsoft.com/office/drawing/2014/main" id="{00FB84EA-854F-9122-9914-16410EA45338}"/>
              </a:ext>
            </a:extLst>
          </p:cNvPr>
          <p:cNvPicPr>
            <a:picLocks noChangeAspect="1"/>
          </p:cNvPicPr>
          <p:nvPr>
            <a:audioFile r:link="rId3"/>
            <p:extLst>
              <p:ext uri="{DAA4B4D4-6D71-4841-9C94-3DE7FCFB9230}">
                <p14:media xmlns:p14="http://schemas.microsoft.com/office/powerpoint/2010/main" r:embed="rId2"/>
              </p:ext>
            </p:extLst>
          </p:nvPr>
        </p:nvPicPr>
        <p:blipFill>
          <a:blip r:embed="rId6"/>
          <a:srcRect l="-118750" t="-118750" r="-118750" b="-118750"/>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3168330224"/>
      </p:ext>
    </p:extLst>
  </p:cSld>
  <p:clrMapOvr>
    <a:masterClrMapping/>
  </p:clrMapOvr>
  <mc:AlternateContent xmlns:mc="http://schemas.openxmlformats.org/markup-compatibility/2006">
    <mc:Choice xmlns:p14="http://schemas.microsoft.com/office/powerpoint/2010/main" Requires="p14">
      <p:transition p14:dur="250" advTm="48413">
        <p:fade/>
      </p:transition>
    </mc:Choice>
    <mc:Fallback>
      <p:transition advTm="4841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4"/>
                                        </p:tgtEl>
                                      </p:cBhvr>
                                    </p:animEffect>
                                    <p:set>
                                      <p:cBhvr>
                                        <p:cTn id="16" dur="1" fill="hold">
                                          <p:stCondLst>
                                            <p:cond delay="499"/>
                                          </p:stCondLst>
                                        </p:cTn>
                                        <p:tgtEl>
                                          <p:spTgt spid="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7"/>
                                        </p:tgtEl>
                                      </p:cBhvr>
                                    </p:animEffect>
                                    <p:set>
                                      <p:cBhvr>
                                        <p:cTn id="21"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2" fill="hold" display="0">
                  <p:stCondLst>
                    <p:cond delay="indefinite"/>
                  </p:stCondLst>
                  <p:endCondLst>
                    <p:cond evt="onStopAudio" delay="0">
                      <p:tgtEl>
                        <p:sldTgt/>
                      </p:tgtEl>
                    </p:cond>
                  </p:endCondLst>
                </p:cTn>
                <p:tgtEl>
                  <p:spTgt spid="22"/>
                </p:tgtEl>
              </p:cMediaNode>
            </p:audio>
          </p:childTnLst>
        </p:cTn>
      </p:par>
    </p:tnLst>
    <p:bldLst>
      <p:bldP spid="2" grpId="0" animBg="1"/>
      <p:bldP spid="4"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a:extLst>
            <a:ext uri="{FF2B5EF4-FFF2-40B4-BE49-F238E27FC236}">
              <a16:creationId xmlns:a16="http://schemas.microsoft.com/office/drawing/2014/main" id="{9BCBF6D2-0542-D486-1E15-7FC713CE46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E186D-AA7B-A810-559C-AF0272246551}"/>
              </a:ext>
            </a:extLst>
          </p:cNvPr>
          <p:cNvSpPr>
            <a:spLocks noGrp="1"/>
          </p:cNvSpPr>
          <p:nvPr>
            <p:ph idx="1"/>
          </p:nvPr>
        </p:nvSpPr>
        <p:spPr>
          <a:xfrm>
            <a:off x="533400" y="1385887"/>
            <a:ext cx="10515600" cy="4086225"/>
          </a:xfrm>
        </p:spPr>
        <p:txBody>
          <a:bodyPr>
            <a:noAutofit/>
          </a:bodyPr>
          <a:lstStyle/>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Tokenised:</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'1+(3+6' =&gt; [id, +, (, id, +, id, $]</a:t>
            </a:r>
          </a:p>
          <a:p>
            <a:pPr marL="0" indent="0">
              <a:buNone/>
            </a:pPr>
            <a:endPar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stack                | input                | action</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$E                   |          id+(</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id+id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E -&gt; TE’</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endPar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$E'T')</a:t>
            </a:r>
            <a:r>
              <a:rPr lang="en-GB" sz="1400" dirty="0" err="1">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E'T'id</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                  id$ | 'id'</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$E'T')E'T'           |                    $ | T' -&gt; </a:t>
            </a: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ε</a:t>
            </a:r>
          </a:p>
          <a:p>
            <a:pPr marL="0" indent="0">
              <a:buNone/>
            </a:pP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E'T')E'</a:t>
            </a: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ε            |                    $ | 'ε'</a:t>
            </a:r>
          </a:p>
          <a:p>
            <a:pPr marL="0" indent="0">
              <a:buNone/>
            </a:pP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E'T')E'             |                    $ | E' -&gt; </a:t>
            </a: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ε</a:t>
            </a:r>
          </a:p>
          <a:p>
            <a:pPr marL="0" indent="0">
              <a:buNone/>
            </a:pP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E'T')</a:t>
            </a: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ε              |                    $ | 'ε'</a:t>
            </a:r>
          </a:p>
          <a:p>
            <a:pPr marL="0" indent="0">
              <a:buNone/>
            </a:pPr>
            <a:r>
              <a:rPr lang="el-GR"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 $</a:t>
            </a: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E'T')               |                    $ | </a:t>
            </a:r>
            <a:r>
              <a:rPr lang="en-GB" sz="14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Syntax Error: Expected ')', found '$’</a:t>
            </a:r>
          </a:p>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Valid input: </a:t>
            </a:r>
            <a:r>
              <a:rPr lang="en-GB" sz="1400" dirty="0">
                <a:solidFill>
                  <a:srgbClr val="F73028"/>
                </a:solidFill>
                <a:latin typeface="JetBrainsMono NF" panose="02000009000000000000" pitchFamily="50" charset="0"/>
                <a:ea typeface="JetBrainsMono NF" panose="02000009000000000000" pitchFamily="50" charset="0"/>
                <a:cs typeface="JetBrainsMono NF" panose="02000009000000000000" pitchFamily="50" charset="0"/>
              </a:rPr>
              <a:t>false</a:t>
            </a:r>
          </a:p>
        </p:txBody>
      </p:sp>
      <p:sp>
        <p:nvSpPr>
          <p:cNvPr id="7" name="Rectangle 6">
            <a:extLst>
              <a:ext uri="{FF2B5EF4-FFF2-40B4-BE49-F238E27FC236}">
                <a16:creationId xmlns:a16="http://schemas.microsoft.com/office/drawing/2014/main" id="{E3C70232-9BEC-3563-306E-0414B408F238}"/>
              </a:ext>
            </a:extLst>
          </p:cNvPr>
          <p:cNvSpPr/>
          <p:nvPr/>
        </p:nvSpPr>
        <p:spPr>
          <a:xfrm>
            <a:off x="533400" y="1348311"/>
            <a:ext cx="9372600" cy="642938"/>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6DBD934-DD9C-F85B-BC60-EF87A630888F}"/>
              </a:ext>
            </a:extLst>
          </p:cNvPr>
          <p:cNvSpPr/>
          <p:nvPr/>
        </p:nvSpPr>
        <p:spPr>
          <a:xfrm>
            <a:off x="82296" y="2215610"/>
            <a:ext cx="10303650" cy="3531394"/>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ontent Placeholder 2">
            <a:extLst>
              <a:ext uri="{FF2B5EF4-FFF2-40B4-BE49-F238E27FC236}">
                <a16:creationId xmlns:a16="http://schemas.microsoft.com/office/drawing/2014/main" id="{7AA785D4-F81E-5696-4EB2-AF26E9B32435}"/>
              </a:ext>
            </a:extLst>
          </p:cNvPr>
          <p:cNvSpPr txBox="1">
            <a:spLocks/>
          </p:cNvSpPr>
          <p:nvPr/>
        </p:nvSpPr>
        <p:spPr>
          <a:xfrm>
            <a:off x="533400" y="781048"/>
            <a:ext cx="9639300" cy="3429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&gt;</a:t>
            </a:r>
            <a:r>
              <a:rPr lang="en-GB" sz="1400" dirty="0">
                <a:solidFill>
                  <a:srgbClr val="F7B125"/>
                </a:solidFill>
                <a:latin typeface="JetBrainsMono NF" panose="02000009000000000000" pitchFamily="50" charset="0"/>
                <a:ea typeface="JetBrainsMono NF" panose="02000009000000000000" pitchFamily="50" charset="0"/>
                <a:cs typeface="JetBrainsMono NF" panose="02000009000000000000" pitchFamily="50" charset="0"/>
              </a:rPr>
              <a:t> cargo run "1+(6+7"</a:t>
            </a:r>
          </a:p>
        </p:txBody>
      </p:sp>
      <p:pic>
        <p:nvPicPr>
          <p:cNvPr id="24" name="Audio 23">
            <a:hlinkClick r:id="" action="ppaction://media"/>
            <a:extLst>
              <a:ext uri="{FF2B5EF4-FFF2-40B4-BE49-F238E27FC236}">
                <a16:creationId xmlns:a16="http://schemas.microsoft.com/office/drawing/2014/main" id="{D95083C4-3F28-2E3F-B510-23A4DA60FD6C}"/>
              </a:ext>
            </a:extLst>
          </p:cNvPr>
          <p:cNvPicPr>
            <a:picLocks noChangeAspect="1"/>
          </p:cNvPicPr>
          <p:nvPr>
            <a:audioFile r:link="rId3"/>
            <p:extLst>
              <p:ext uri="{DAA4B4D4-6D71-4841-9C94-3DE7FCFB9230}">
                <p14:media xmlns:p14="http://schemas.microsoft.com/office/powerpoint/2010/main" r:embed="rId2"/>
              </p:ext>
            </p:extLst>
          </p:nvPr>
        </p:nvPicPr>
        <p:blipFill>
          <a:blip r:embed="rId6"/>
          <a:srcRect l="-118750" t="-118750" r="-118750" b="-118750"/>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1543652042"/>
      </p:ext>
    </p:extLst>
  </p:cSld>
  <p:clrMapOvr>
    <a:masterClrMapping/>
  </p:clrMapOvr>
  <mc:AlternateContent xmlns:mc="http://schemas.openxmlformats.org/markup-compatibility/2006">
    <mc:Choice xmlns:p14="http://schemas.microsoft.com/office/powerpoint/2010/main" Requires="p14">
      <p:transition spd="med" p14:dur="700" advTm="24192">
        <p:fade/>
      </p:transition>
    </mc:Choice>
    <mc:Fallback>
      <p:transition spd="med" advTm="2419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7"/>
                                        </p:tgtEl>
                                      </p:cBhvr>
                                    </p:animEffect>
                                    <p:set>
                                      <p:cBhvr>
                                        <p:cTn id="11" dur="1" fill="hold">
                                          <p:stCondLst>
                                            <p:cond delay="499"/>
                                          </p:stCondLst>
                                        </p:cTn>
                                        <p:tgtEl>
                                          <p:spTgt spid="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24"/>
                </p:tgtEl>
              </p:cMediaNode>
            </p:audio>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a:extLst>
            <a:ext uri="{FF2B5EF4-FFF2-40B4-BE49-F238E27FC236}">
              <a16:creationId xmlns:a16="http://schemas.microsoft.com/office/drawing/2014/main" id="{31691E36-13A2-46D0-C661-6AEA8B82C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DB15A-BCC2-8AE7-3380-91D5BA631C95}"/>
              </a:ext>
            </a:extLst>
          </p:cNvPr>
          <p:cNvSpPr>
            <a:spLocks noGrp="1"/>
          </p:cNvSpPr>
          <p:nvPr>
            <p:ph type="title"/>
          </p:nvPr>
        </p:nvSpPr>
        <p:spPr/>
        <p:txBody>
          <a:bodyPr/>
          <a:lstStyle/>
          <a:p>
            <a:r>
              <a:rPr lang="en-GB" dirty="0">
                <a:solidFill>
                  <a:srgbClr val="E6D4A3"/>
                </a:solidFill>
              </a:rPr>
              <a:t>Importance</a:t>
            </a:r>
          </a:p>
        </p:txBody>
      </p:sp>
      <p:sp>
        <p:nvSpPr>
          <p:cNvPr id="3" name="Content Placeholder 2">
            <a:extLst>
              <a:ext uri="{FF2B5EF4-FFF2-40B4-BE49-F238E27FC236}">
                <a16:creationId xmlns:a16="http://schemas.microsoft.com/office/drawing/2014/main" id="{E61CD6B2-439F-0E9E-F2D0-146A9A5F8F53}"/>
              </a:ext>
            </a:extLst>
          </p:cNvPr>
          <p:cNvSpPr>
            <a:spLocks noGrp="1"/>
          </p:cNvSpPr>
          <p:nvPr>
            <p:ph idx="1"/>
          </p:nvPr>
        </p:nvSpPr>
        <p:spPr/>
        <p:txBody>
          <a:bodyPr/>
          <a:lstStyle/>
          <a:p>
            <a:r>
              <a:rPr lang="en-GB" dirty="0">
                <a:solidFill>
                  <a:srgbClr val="E6D4A3"/>
                </a:solidFill>
              </a:rPr>
              <a:t>Used where </a:t>
            </a:r>
            <a:r>
              <a:rPr lang="en-GB" dirty="0">
                <a:solidFill>
                  <a:srgbClr val="F7B125"/>
                </a:solidFill>
              </a:rPr>
              <a:t>high performance </a:t>
            </a:r>
            <a:r>
              <a:rPr lang="en-GB" dirty="0">
                <a:solidFill>
                  <a:srgbClr val="E6D4A3"/>
                </a:solidFill>
              </a:rPr>
              <a:t>is needed, for example syntax highlighting in IDEs.</a:t>
            </a:r>
            <a:endParaRPr lang="en-GB"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a:p>
            <a:r>
              <a:rPr lang="en-GB" dirty="0">
                <a:solidFill>
                  <a:srgbClr val="E6D4A3"/>
                </a:solidFill>
                <a:ea typeface="JetBrainsMono NF" panose="02000009000000000000" pitchFamily="50" charset="0"/>
                <a:cs typeface="JetBrainsMono NF" panose="02000009000000000000" pitchFamily="50" charset="0"/>
              </a:rPr>
              <a:t>Domain specific languages (SQL, JSON).</a:t>
            </a:r>
          </a:p>
          <a:p>
            <a:r>
              <a:rPr lang="en-GB" dirty="0">
                <a:solidFill>
                  <a:srgbClr val="E6D4A3"/>
                </a:solidFill>
              </a:rPr>
              <a:t>Can be </a:t>
            </a:r>
            <a:r>
              <a:rPr lang="en-GB" dirty="0">
                <a:solidFill>
                  <a:srgbClr val="F7B125"/>
                </a:solidFill>
              </a:rPr>
              <a:t>verified</a:t>
            </a:r>
            <a:r>
              <a:rPr lang="en-GB" dirty="0">
                <a:solidFill>
                  <a:srgbClr val="E6D4A3"/>
                </a:solidFill>
              </a:rPr>
              <a:t>.</a:t>
            </a:r>
          </a:p>
          <a:p>
            <a:r>
              <a:rPr lang="en-GB" dirty="0">
                <a:solidFill>
                  <a:srgbClr val="E6D4A3"/>
                </a:solidFill>
              </a:rPr>
              <a:t>Where LL(1) is </a:t>
            </a:r>
            <a:r>
              <a:rPr lang="en-GB" sz="2400" dirty="0">
                <a:solidFill>
                  <a:srgbClr val="F7B125"/>
                </a:solidFill>
                <a:latin typeface="JetBrainsMono NF" panose="02000009000000000000" pitchFamily="50" charset="0"/>
                <a:ea typeface="JetBrainsMono NF" panose="02000009000000000000" pitchFamily="50" charset="0"/>
                <a:cs typeface="JetBrainsMono NF" panose="02000009000000000000" pitchFamily="50" charset="0"/>
              </a:rPr>
              <a:t>O(n)</a:t>
            </a:r>
            <a:r>
              <a:rPr lang="en-GB" dirty="0">
                <a:solidFill>
                  <a:srgbClr val="E6D4A3"/>
                </a:solidFill>
              </a:rPr>
              <a:t>, algorithms to parse harder languages (C++, Python) are up to </a:t>
            </a:r>
            <a:r>
              <a:rPr lang="en-GB" sz="2400" dirty="0">
                <a:solidFill>
                  <a:srgbClr val="F7B125"/>
                </a:solidFill>
                <a:latin typeface="JetBrainsMono NF" panose="02000009000000000000" pitchFamily="50" charset="0"/>
                <a:ea typeface="JetBrainsMono NF" panose="02000009000000000000" pitchFamily="50" charset="0"/>
                <a:cs typeface="JetBrainsMono NF" panose="02000009000000000000" pitchFamily="50" charset="0"/>
              </a:rPr>
              <a:t>O(n</a:t>
            </a:r>
            <a:r>
              <a:rPr lang="en-GB" sz="2400" baseline="30000" dirty="0">
                <a:solidFill>
                  <a:srgbClr val="F7B125"/>
                </a:solidFill>
                <a:latin typeface="JetBrainsMono NF" panose="02000009000000000000" pitchFamily="50" charset="0"/>
                <a:ea typeface="JetBrainsMono NF" panose="02000009000000000000" pitchFamily="50" charset="0"/>
                <a:cs typeface="JetBrainsMono NF" panose="02000009000000000000" pitchFamily="50" charset="0"/>
              </a:rPr>
              <a:t>3</a:t>
            </a:r>
            <a:r>
              <a:rPr lang="en-GB" sz="2400" dirty="0">
                <a:solidFill>
                  <a:srgbClr val="F7B125"/>
                </a:solidFill>
                <a:latin typeface="JetBrainsMono NF" panose="02000009000000000000" pitchFamily="50" charset="0"/>
                <a:ea typeface="JetBrainsMono NF" panose="02000009000000000000" pitchFamily="50" charset="0"/>
                <a:cs typeface="JetBrainsMono NF" panose="02000009000000000000" pitchFamily="50" charset="0"/>
              </a:rPr>
              <a:t>)</a:t>
            </a:r>
            <a:r>
              <a:rPr lang="en-GB" sz="2400"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rPr>
              <a:t>.</a:t>
            </a:r>
            <a:endParaRPr lang="en-GB" dirty="0">
              <a:solidFill>
                <a:srgbClr val="E6D4A3"/>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pic>
        <p:nvPicPr>
          <p:cNvPr id="11" name="Audio 10">
            <a:hlinkClick r:id="" action="ppaction://media"/>
            <a:extLst>
              <a:ext uri="{FF2B5EF4-FFF2-40B4-BE49-F238E27FC236}">
                <a16:creationId xmlns:a16="http://schemas.microsoft.com/office/drawing/2014/main" id="{7A9FE47A-C342-89EA-257A-839E48CB9E3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787183879"/>
      </p:ext>
    </p:extLst>
  </p:cSld>
  <p:clrMapOvr>
    <a:masterClrMapping/>
  </p:clrMapOvr>
  <mc:AlternateContent xmlns:mc="http://schemas.openxmlformats.org/markup-compatibility/2006">
    <mc:Choice xmlns:p14="http://schemas.microsoft.com/office/powerpoint/2010/main" Requires="p14">
      <p:transition p14:dur="250" advTm="35683">
        <p:fade/>
      </p:transition>
    </mc:Choice>
    <mc:Fallback>
      <p:transition advTm="3568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a:extLst>
            <a:ext uri="{FF2B5EF4-FFF2-40B4-BE49-F238E27FC236}">
              <a16:creationId xmlns:a16="http://schemas.microsoft.com/office/drawing/2014/main" id="{2726FABE-28E8-34ED-F428-388F59935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93B3E-A6AE-2D0D-F40A-7806ECA530A9}"/>
              </a:ext>
            </a:extLst>
          </p:cNvPr>
          <p:cNvSpPr>
            <a:spLocks noGrp="1"/>
          </p:cNvSpPr>
          <p:nvPr>
            <p:ph type="title"/>
          </p:nvPr>
        </p:nvSpPr>
        <p:spPr/>
        <p:txBody>
          <a:bodyPr/>
          <a:lstStyle/>
          <a:p>
            <a:r>
              <a:rPr lang="en-GB" dirty="0">
                <a:solidFill>
                  <a:srgbClr val="E6D4A3"/>
                </a:solidFill>
              </a:rPr>
              <a:t>Implementation</a:t>
            </a:r>
          </a:p>
        </p:txBody>
      </p:sp>
      <p:sp>
        <p:nvSpPr>
          <p:cNvPr id="3" name="Content Placeholder 2">
            <a:extLst>
              <a:ext uri="{FF2B5EF4-FFF2-40B4-BE49-F238E27FC236}">
                <a16:creationId xmlns:a16="http://schemas.microsoft.com/office/drawing/2014/main" id="{D0F93503-DA5C-169A-2BDD-D7B0BFFE36C7}"/>
              </a:ext>
            </a:extLst>
          </p:cNvPr>
          <p:cNvSpPr>
            <a:spLocks noGrp="1"/>
          </p:cNvSpPr>
          <p:nvPr>
            <p:ph idx="1"/>
          </p:nvPr>
        </p:nvSpPr>
        <p:spPr/>
        <p:txBody>
          <a:bodyPr/>
          <a:lstStyle/>
          <a:p>
            <a:r>
              <a:rPr lang="en-GB" dirty="0">
                <a:solidFill>
                  <a:srgbClr val="E6D4A3"/>
                </a:solidFill>
                <a:ea typeface="JetBrainsMono NF" panose="02000009000000000000" pitchFamily="50" charset="0"/>
                <a:cs typeface="JetBrainsMono NF" panose="02000009000000000000" pitchFamily="50" charset="0"/>
              </a:rPr>
              <a:t>Grammar definition</a:t>
            </a:r>
          </a:p>
          <a:p>
            <a:r>
              <a:rPr lang="en-GB" dirty="0">
                <a:solidFill>
                  <a:srgbClr val="E6D4A3"/>
                </a:solidFill>
                <a:ea typeface="JetBrainsMono NF" panose="02000009000000000000" pitchFamily="50" charset="0"/>
                <a:cs typeface="JetBrainsMono NF" panose="02000009000000000000" pitchFamily="50" charset="0"/>
              </a:rPr>
              <a:t>Table generator</a:t>
            </a:r>
          </a:p>
          <a:p>
            <a:r>
              <a:rPr lang="en-GB" dirty="0">
                <a:solidFill>
                  <a:srgbClr val="E6D4A3"/>
                </a:solidFill>
                <a:ea typeface="JetBrainsMono NF" panose="02000009000000000000" pitchFamily="50" charset="0"/>
                <a:cs typeface="JetBrainsMono NF" panose="02000009000000000000" pitchFamily="50" charset="0"/>
              </a:rPr>
              <a:t>Parsing</a:t>
            </a:r>
          </a:p>
        </p:txBody>
      </p:sp>
      <p:pic>
        <p:nvPicPr>
          <p:cNvPr id="16" name="Picture 15">
            <a:extLst>
              <a:ext uri="{FF2B5EF4-FFF2-40B4-BE49-F238E27FC236}">
                <a16:creationId xmlns:a16="http://schemas.microsoft.com/office/drawing/2014/main" id="{FA598AC7-F818-2639-D3B1-452D09B39E4D}"/>
              </a:ext>
            </a:extLst>
          </p:cNvPr>
          <p:cNvPicPr>
            <a:picLocks noChangeAspect="1"/>
          </p:cNvPicPr>
          <p:nvPr/>
        </p:nvPicPr>
        <p:blipFill>
          <a:blip r:embed="rId5"/>
          <a:stretch>
            <a:fillRect/>
          </a:stretch>
        </p:blipFill>
        <p:spPr>
          <a:xfrm>
            <a:off x="7560654" y="406202"/>
            <a:ext cx="1609950" cy="1838582"/>
          </a:xfrm>
          <a:prstGeom prst="rect">
            <a:avLst/>
          </a:prstGeom>
        </p:spPr>
      </p:pic>
      <p:pic>
        <p:nvPicPr>
          <p:cNvPr id="18" name="Picture 17">
            <a:extLst>
              <a:ext uri="{FF2B5EF4-FFF2-40B4-BE49-F238E27FC236}">
                <a16:creationId xmlns:a16="http://schemas.microsoft.com/office/drawing/2014/main" id="{83B71874-5BA0-96B9-E2E0-E738D680AAAD}"/>
              </a:ext>
            </a:extLst>
          </p:cNvPr>
          <p:cNvPicPr>
            <a:picLocks noChangeAspect="1"/>
          </p:cNvPicPr>
          <p:nvPr/>
        </p:nvPicPr>
        <p:blipFill>
          <a:blip r:embed="rId6"/>
          <a:stretch>
            <a:fillRect/>
          </a:stretch>
        </p:blipFill>
        <p:spPr>
          <a:xfrm>
            <a:off x="5275007" y="406202"/>
            <a:ext cx="1838582" cy="1419423"/>
          </a:xfrm>
          <a:prstGeom prst="rect">
            <a:avLst/>
          </a:prstGeom>
        </p:spPr>
      </p:pic>
      <p:pic>
        <p:nvPicPr>
          <p:cNvPr id="20" name="Picture 19">
            <a:extLst>
              <a:ext uri="{FF2B5EF4-FFF2-40B4-BE49-F238E27FC236}">
                <a16:creationId xmlns:a16="http://schemas.microsoft.com/office/drawing/2014/main" id="{F4FF36DC-74ED-D856-A2EC-7228B9969F34}"/>
              </a:ext>
            </a:extLst>
          </p:cNvPr>
          <p:cNvPicPr>
            <a:picLocks noChangeAspect="1"/>
          </p:cNvPicPr>
          <p:nvPr/>
        </p:nvPicPr>
        <p:blipFill>
          <a:blip r:embed="rId7"/>
          <a:srcRect l="1307"/>
          <a:stretch>
            <a:fillRect/>
          </a:stretch>
        </p:blipFill>
        <p:spPr>
          <a:xfrm>
            <a:off x="8249256" y="2734216"/>
            <a:ext cx="3243609" cy="2067213"/>
          </a:xfrm>
          <a:prstGeom prst="rect">
            <a:avLst/>
          </a:prstGeom>
        </p:spPr>
      </p:pic>
      <p:pic>
        <p:nvPicPr>
          <p:cNvPr id="22" name="Picture 21">
            <a:extLst>
              <a:ext uri="{FF2B5EF4-FFF2-40B4-BE49-F238E27FC236}">
                <a16:creationId xmlns:a16="http://schemas.microsoft.com/office/drawing/2014/main" id="{1BEBD97A-01D0-4296-1091-0AC341173036}"/>
              </a:ext>
            </a:extLst>
          </p:cNvPr>
          <p:cNvPicPr>
            <a:picLocks noChangeAspect="1"/>
          </p:cNvPicPr>
          <p:nvPr/>
        </p:nvPicPr>
        <p:blipFill>
          <a:blip r:embed="rId8"/>
          <a:srcRect l="1760"/>
          <a:stretch>
            <a:fillRect/>
          </a:stretch>
        </p:blipFill>
        <p:spPr>
          <a:xfrm>
            <a:off x="4894980" y="2734216"/>
            <a:ext cx="3181922" cy="2095792"/>
          </a:xfrm>
          <a:prstGeom prst="rect">
            <a:avLst/>
          </a:prstGeom>
        </p:spPr>
      </p:pic>
      <p:pic>
        <p:nvPicPr>
          <p:cNvPr id="24" name="Picture 23" descr="A book cover with a dragon and a computer&#10;&#10;AI-generated content may be incorrect.">
            <a:extLst>
              <a:ext uri="{FF2B5EF4-FFF2-40B4-BE49-F238E27FC236}">
                <a16:creationId xmlns:a16="http://schemas.microsoft.com/office/drawing/2014/main" id="{755B0443-A1D5-8F50-98AA-55474EDA4F24}"/>
              </a:ext>
            </a:extLst>
          </p:cNvPr>
          <p:cNvPicPr>
            <a:picLocks noChangeAspect="1"/>
          </p:cNvPicPr>
          <p:nvPr/>
        </p:nvPicPr>
        <p:blipFill>
          <a:blip r:embed="rId9">
            <a:extLst>
              <a:ext uri="{28A0092B-C50C-407E-A947-70E740481C1C}">
                <a14:useLocalDpi xmlns:a14="http://schemas.microsoft.com/office/drawing/2010/main" val="0"/>
              </a:ext>
            </a:extLst>
          </a:blip>
          <a:srcRect l="12667" r="11493"/>
          <a:stretch>
            <a:fillRect/>
          </a:stretch>
        </p:blipFill>
        <p:spPr>
          <a:xfrm>
            <a:off x="10538324" y="406202"/>
            <a:ext cx="1204273" cy="1587913"/>
          </a:xfrm>
          <a:prstGeom prst="rect">
            <a:avLst/>
          </a:prstGeom>
        </p:spPr>
      </p:pic>
      <p:grpSp>
        <p:nvGrpSpPr>
          <p:cNvPr id="36" name="Group 35">
            <a:extLst>
              <a:ext uri="{FF2B5EF4-FFF2-40B4-BE49-F238E27FC236}">
                <a16:creationId xmlns:a16="http://schemas.microsoft.com/office/drawing/2014/main" id="{FFEB59DD-1726-DB3B-2CBB-843736959457}"/>
              </a:ext>
            </a:extLst>
          </p:cNvPr>
          <p:cNvGrpSpPr/>
          <p:nvPr/>
        </p:nvGrpSpPr>
        <p:grpSpPr>
          <a:xfrm>
            <a:off x="1447800" y="5354925"/>
            <a:ext cx="4847827" cy="822038"/>
            <a:chOff x="1123005" y="3485365"/>
            <a:chExt cx="4847827" cy="822038"/>
          </a:xfrm>
        </p:grpSpPr>
        <p:sp>
          <p:nvSpPr>
            <p:cNvPr id="25" name="Rectangle 24">
              <a:extLst>
                <a:ext uri="{FF2B5EF4-FFF2-40B4-BE49-F238E27FC236}">
                  <a16:creationId xmlns:a16="http://schemas.microsoft.com/office/drawing/2014/main" id="{C1B67936-6F64-F97D-9852-1897348A08E6}"/>
                </a:ext>
              </a:extLst>
            </p:cNvPr>
            <p:cNvSpPr/>
            <p:nvPr/>
          </p:nvSpPr>
          <p:spPr>
            <a:xfrm>
              <a:off x="4696212" y="3604427"/>
              <a:ext cx="1274620" cy="583912"/>
            </a:xfrm>
            <a:prstGeom prst="rect">
              <a:avLst/>
            </a:prstGeom>
            <a:solidFill>
              <a:srgbClr val="7F7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Parse Table</a:t>
              </a:r>
            </a:p>
          </p:txBody>
        </p:sp>
        <p:sp>
          <p:nvSpPr>
            <p:cNvPr id="26" name="Rectangle 25">
              <a:extLst>
                <a:ext uri="{FF2B5EF4-FFF2-40B4-BE49-F238E27FC236}">
                  <a16:creationId xmlns:a16="http://schemas.microsoft.com/office/drawing/2014/main" id="{E006752C-AE67-100B-7768-A9C7FCA3A6D2}"/>
                </a:ext>
              </a:extLst>
            </p:cNvPr>
            <p:cNvSpPr/>
            <p:nvPr/>
          </p:nvSpPr>
          <p:spPr>
            <a:xfrm>
              <a:off x="1123005" y="3485366"/>
              <a:ext cx="1274619" cy="822037"/>
            </a:xfrm>
            <a:prstGeom prst="rect">
              <a:avLst/>
            </a:prstGeom>
            <a:solidFill>
              <a:srgbClr val="7195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Grammar</a:t>
              </a:r>
              <a:endParaRPr lang="en-GB"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endParaRPr>
            </a:p>
          </p:txBody>
        </p:sp>
        <p:sp>
          <p:nvSpPr>
            <p:cNvPr id="27" name="Rectangle 26">
              <a:extLst>
                <a:ext uri="{FF2B5EF4-FFF2-40B4-BE49-F238E27FC236}">
                  <a16:creationId xmlns:a16="http://schemas.microsoft.com/office/drawing/2014/main" id="{709188BF-7D85-DE9F-0EA5-34DA43D4CEA6}"/>
                </a:ext>
              </a:extLst>
            </p:cNvPr>
            <p:cNvSpPr/>
            <p:nvPr/>
          </p:nvSpPr>
          <p:spPr>
            <a:xfrm>
              <a:off x="2909609" y="3485365"/>
              <a:ext cx="1274619" cy="822037"/>
            </a:xfrm>
            <a:prstGeom prst="rect">
              <a:avLst/>
            </a:prstGeom>
            <a:solidFill>
              <a:srgbClr val="C770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Table</a:t>
              </a:r>
            </a:p>
            <a:p>
              <a:pPr algn="ctr"/>
              <a:r>
                <a:rPr lang="en-GB" sz="1600" dirty="0">
                  <a:solidFill>
                    <a:srgbClr val="282828"/>
                  </a:solidFill>
                  <a:latin typeface="JetBrainsMono NF" panose="02000009000000000000" pitchFamily="50" charset="0"/>
                  <a:ea typeface="JetBrainsMono NF" panose="02000009000000000000" pitchFamily="50" charset="0"/>
                  <a:cs typeface="JetBrainsMono NF" panose="02000009000000000000" pitchFamily="50" charset="0"/>
                </a:rPr>
                <a:t>Gen.</a:t>
              </a:r>
            </a:p>
          </p:txBody>
        </p:sp>
      </p:grpSp>
      <p:cxnSp>
        <p:nvCxnSpPr>
          <p:cNvPr id="30" name="Straight Arrow Connector 29">
            <a:extLst>
              <a:ext uri="{FF2B5EF4-FFF2-40B4-BE49-F238E27FC236}">
                <a16:creationId xmlns:a16="http://schemas.microsoft.com/office/drawing/2014/main" id="{972AFD25-9552-4C8A-57AD-9769E2B2F5E4}"/>
              </a:ext>
            </a:extLst>
          </p:cNvPr>
          <p:cNvCxnSpPr>
            <a:cxnSpLocks/>
            <a:stCxn id="26" idx="3"/>
            <a:endCxn id="27" idx="1"/>
          </p:cNvCxnSpPr>
          <p:nvPr/>
        </p:nvCxnSpPr>
        <p:spPr>
          <a:xfrm flipV="1">
            <a:off x="2722419" y="5765944"/>
            <a:ext cx="511985" cy="1"/>
          </a:xfrm>
          <a:prstGeom prst="straightConnector1">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3B00F0A-AA53-91B8-685D-4403B8CEA293}"/>
              </a:ext>
            </a:extLst>
          </p:cNvPr>
          <p:cNvCxnSpPr>
            <a:cxnSpLocks/>
            <a:stCxn id="27" idx="3"/>
            <a:endCxn id="25" idx="1"/>
          </p:cNvCxnSpPr>
          <p:nvPr/>
        </p:nvCxnSpPr>
        <p:spPr>
          <a:xfrm flipV="1">
            <a:off x="4509023" y="5765943"/>
            <a:ext cx="511984" cy="1"/>
          </a:xfrm>
          <a:prstGeom prst="straightConnector1">
            <a:avLst/>
          </a:prstGeom>
          <a:ln>
            <a:solidFill>
              <a:srgbClr val="E6D4A3"/>
            </a:solidFill>
            <a:tailEnd type="triangle"/>
          </a:ln>
        </p:spPr>
        <p:style>
          <a:lnRef idx="2">
            <a:schemeClr val="accent1"/>
          </a:lnRef>
          <a:fillRef idx="0">
            <a:schemeClr val="accent1"/>
          </a:fillRef>
          <a:effectRef idx="1">
            <a:schemeClr val="accent1"/>
          </a:effectRef>
          <a:fontRef idx="minor">
            <a:schemeClr val="tx1"/>
          </a:fontRef>
        </p:style>
      </p:cxnSp>
      <p:pic>
        <p:nvPicPr>
          <p:cNvPr id="49" name="Audio 48">
            <a:hlinkClick r:id="" action="ppaction://media"/>
            <a:extLst>
              <a:ext uri="{FF2B5EF4-FFF2-40B4-BE49-F238E27FC236}">
                <a16:creationId xmlns:a16="http://schemas.microsoft.com/office/drawing/2014/main" id="{533E0796-BE22-F3F4-4E1F-B9A83EA99A8F}"/>
              </a:ext>
            </a:extLst>
          </p:cNvPr>
          <p:cNvPicPr>
            <a:picLocks noChangeAspect="1"/>
          </p:cNvPicPr>
          <p:nvPr>
            <a:audioFile r:link="rId2"/>
            <p:extLst>
              <p:ext uri="{DAA4B4D4-6D71-4841-9C94-3DE7FCFB9230}">
                <p14:media xmlns:p14="http://schemas.microsoft.com/office/powerpoint/2010/main" r:embed="rId1"/>
              </p:ext>
            </p:extLst>
          </p:nvPr>
        </p:nvPicPr>
        <p:blipFill>
          <a:blip r:embed="rId10"/>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00563787"/>
      </p:ext>
    </p:extLst>
  </p:cSld>
  <p:clrMapOvr>
    <a:masterClrMapping/>
  </p:clrMapOvr>
  <mc:AlternateContent xmlns:mc="http://schemas.openxmlformats.org/markup-compatibility/2006">
    <mc:Choice xmlns:p14="http://schemas.microsoft.com/office/powerpoint/2010/main" Requires="p14">
      <p:transition p14:dur="250" advTm="29670">
        <p:fade/>
      </p:transition>
    </mc:Choice>
    <mc:Fallback>
      <p:transition advTm="2967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a:extLst>
            <a:ext uri="{FF2B5EF4-FFF2-40B4-BE49-F238E27FC236}">
              <a16:creationId xmlns:a16="http://schemas.microsoft.com/office/drawing/2014/main" id="{E895CB76-5EAB-5529-EF4F-96B278E0FCC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010AF89-C756-8F7E-0928-04E098B04CB4}"/>
              </a:ext>
            </a:extLst>
          </p:cNvPr>
          <p:cNvPicPr>
            <a:picLocks noChangeAspect="1"/>
          </p:cNvPicPr>
          <p:nvPr/>
        </p:nvPicPr>
        <p:blipFill>
          <a:blip r:embed="rId5"/>
          <a:stretch>
            <a:fillRect/>
          </a:stretch>
        </p:blipFill>
        <p:spPr>
          <a:xfrm>
            <a:off x="0" y="0"/>
            <a:ext cx="7296449" cy="6858000"/>
          </a:xfrm>
          <a:prstGeom prst="rect">
            <a:avLst/>
          </a:prstGeom>
        </p:spPr>
      </p:pic>
      <p:sp>
        <p:nvSpPr>
          <p:cNvPr id="17" name="Rectangle 16">
            <a:extLst>
              <a:ext uri="{FF2B5EF4-FFF2-40B4-BE49-F238E27FC236}">
                <a16:creationId xmlns:a16="http://schemas.microsoft.com/office/drawing/2014/main" id="{E9B4159F-8132-C763-E19E-B46B0255E223}"/>
              </a:ext>
            </a:extLst>
          </p:cNvPr>
          <p:cNvSpPr/>
          <p:nvPr/>
        </p:nvSpPr>
        <p:spPr>
          <a:xfrm>
            <a:off x="835819" y="0"/>
            <a:ext cx="1902619" cy="204788"/>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Audio 19">
            <a:hlinkClick r:id="" action="ppaction://media"/>
            <a:extLst>
              <a:ext uri="{FF2B5EF4-FFF2-40B4-BE49-F238E27FC236}">
                <a16:creationId xmlns:a16="http://schemas.microsoft.com/office/drawing/2014/main" id="{CC6914B5-FC8B-1D07-248B-FA655DC03A75}"/>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62686198"/>
      </p:ext>
    </p:extLst>
  </p:cSld>
  <p:clrMapOvr>
    <a:masterClrMapping/>
  </p:clrMapOvr>
  <mc:AlternateContent xmlns:mc="http://schemas.openxmlformats.org/markup-compatibility/2006">
    <mc:Choice xmlns:p14="http://schemas.microsoft.com/office/powerpoint/2010/main" Requires="p14">
      <p:transition p14:dur="250" advTm="53061">
        <p:fade/>
      </p:transition>
    </mc:Choice>
    <mc:Fallback>
      <p:transition advTm="5306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a:extLst>
            <a:ext uri="{FF2B5EF4-FFF2-40B4-BE49-F238E27FC236}">
              <a16:creationId xmlns:a16="http://schemas.microsoft.com/office/drawing/2014/main" id="{257C778A-8E1E-5E3D-BEB6-160FB4C2220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AB44AD3-DD76-260D-EB02-E1C6D571C762}"/>
              </a:ext>
            </a:extLst>
          </p:cNvPr>
          <p:cNvSpPr txBox="1"/>
          <p:nvPr/>
        </p:nvSpPr>
        <p:spPr>
          <a:xfrm>
            <a:off x="742950" y="3244334"/>
            <a:ext cx="10706100" cy="369332"/>
          </a:xfrm>
          <a:prstGeom prst="rect">
            <a:avLst/>
          </a:prstGeom>
          <a:noFill/>
        </p:spPr>
        <p:txBody>
          <a:bodyPr wrap="square" rtlCol="0">
            <a:spAutoFit/>
          </a:bodyPr>
          <a:lstStyle/>
          <a:p>
            <a:r>
              <a:rPr lang="en-GB" dirty="0">
                <a:solidFill>
                  <a:srgbClr val="E6D4A3"/>
                </a:solidFill>
              </a:rPr>
              <a:t>[1] </a:t>
            </a:r>
            <a:r>
              <a:rPr lang="en-US" dirty="0">
                <a:solidFill>
                  <a:srgbClr val="E6D4A3"/>
                </a:solidFill>
              </a:rPr>
              <a:t>A. V. Aho, R. Sethi, and J. D. Ullman, Compilers: principles, techniques, and tools. Addison-Wesley, 1988</a:t>
            </a:r>
            <a:endParaRPr lang="en-GB" dirty="0">
              <a:solidFill>
                <a:srgbClr val="E6D4A3"/>
              </a:solidFill>
            </a:endParaRPr>
          </a:p>
        </p:txBody>
      </p:sp>
      <p:pic>
        <p:nvPicPr>
          <p:cNvPr id="13" name="Audio 12">
            <a:hlinkClick r:id="" action="ppaction://media"/>
            <a:extLst>
              <a:ext uri="{FF2B5EF4-FFF2-40B4-BE49-F238E27FC236}">
                <a16:creationId xmlns:a16="http://schemas.microsoft.com/office/drawing/2014/main" id="{FF2BE0BD-2163-8B1D-B2C8-340B8D98972D}"/>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546904708"/>
      </p:ext>
    </p:extLst>
  </p:cSld>
  <p:clrMapOvr>
    <a:masterClrMapping/>
  </p:clrMapOvr>
  <mc:AlternateContent xmlns:mc="http://schemas.openxmlformats.org/markup-compatibility/2006">
    <mc:Choice xmlns:p14="http://schemas.microsoft.com/office/powerpoint/2010/main" Requires="p14">
      <p:transition p14:dur="250" advTm="3211">
        <p:fade/>
      </p:transition>
    </mc:Choice>
    <mc:Fallback>
      <p:transition advTm="321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5.1|1|14.6"/>
</p:tagLst>
</file>

<file path=ppt/tags/tag2.xml><?xml version="1.0" encoding="utf-8"?>
<p:tagLst xmlns:a="http://schemas.openxmlformats.org/drawingml/2006/main" xmlns:r="http://schemas.openxmlformats.org/officeDocument/2006/relationships" xmlns:p="http://schemas.openxmlformats.org/presentationml/2006/main">
  <p:tag name="TIMING" val="|7.1|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1361</Words>
  <Application>Microsoft Office PowerPoint</Application>
  <PresentationFormat>Widescreen</PresentationFormat>
  <Paragraphs>134</Paragraphs>
  <Slides>9</Slides>
  <Notes>9</Notes>
  <HiddenSlides>0</HiddenSlides>
  <MMClips>9</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JetBrainsMono NF</vt:lpstr>
      <vt:lpstr>Office Theme</vt:lpstr>
      <vt:lpstr>The LL(1) Parsing Algorithm</vt:lpstr>
      <vt:lpstr>Background</vt:lpstr>
      <vt:lpstr>Principles</vt:lpstr>
      <vt:lpstr>PowerPoint Presentation</vt:lpstr>
      <vt:lpstr>PowerPoint Presentation</vt:lpstr>
      <vt:lpstr>Importance</vt:lpstr>
      <vt:lpstr>Implementation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Matthewson, Kit</dc:creator>
  <cp:lastModifiedBy>Matthewson, Kit</cp:lastModifiedBy>
  <cp:revision>6</cp:revision>
  <dcterms:created xsi:type="dcterms:W3CDTF">2025-11-19T10:27:40Z</dcterms:created>
  <dcterms:modified xsi:type="dcterms:W3CDTF">2025-11-19T20:16:21Z</dcterms:modified>
</cp:coreProperties>
</file>